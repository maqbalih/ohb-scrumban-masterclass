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DC3B8-E7E3-37D2-F9F4-D1960F645906}" v="241" dt="2026-10-15T06:24:16.605"/>
    <p1510:client id="{7F40C78F-D82E-4FD8-A36B-AD7EE9AA7DB0}" v="7" dt="2026-10-15T06:26:40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835" autoAdjust="0"/>
  </p:normalViewPr>
  <p:slideViewPr>
    <p:cSldViewPr snapToGrid="0" snapToObjects="1">
      <p:cViewPr>
        <p:scale>
          <a:sx n="75" d="100"/>
          <a:sy n="75" d="100"/>
        </p:scale>
        <p:origin x="840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er Abdulrasool Al-Raisi" userId="S::abeer.alraisi@ohb.co.om::6376200b-4478-460e-8ae7-9b0072f6f167" providerId="AD" clId="Web-{02BDC3B8-E7E3-37D2-F9F4-D1960F645906}"/>
    <pc:docChg chg="addSld delSld modSld">
      <pc:chgData name="Abeer Abdulrasool Al-Raisi" userId="S::abeer.alraisi@ohb.co.om::6376200b-4478-460e-8ae7-9b0072f6f167" providerId="AD" clId="Web-{02BDC3B8-E7E3-37D2-F9F4-D1960F645906}" dt="2026-10-15T06:24:16.605" v="239" actId="20577"/>
      <pc:docMkLst>
        <pc:docMk/>
      </pc:docMkLst>
      <pc:sldChg chg="del">
        <pc:chgData name="Abeer Abdulrasool Al-Raisi" userId="S::abeer.alraisi@ohb.co.om::6376200b-4478-460e-8ae7-9b0072f6f167" providerId="AD" clId="Web-{02BDC3B8-E7E3-37D2-F9F4-D1960F645906}" dt="2026-10-14T12:03:13.310" v="47"/>
        <pc:sldMkLst>
          <pc:docMk/>
          <pc:sldMk cId="0" sldId="256"/>
        </pc:sldMkLst>
      </pc:sldChg>
      <pc:sldChg chg="delSp modSp">
        <pc:chgData name="Abeer Abdulrasool Al-Raisi" userId="S::abeer.alraisi@ohb.co.om::6376200b-4478-460e-8ae7-9b0072f6f167" providerId="AD" clId="Web-{02BDC3B8-E7E3-37D2-F9F4-D1960F645906}" dt="2026-10-14T12:08:07.050" v="77" actId="20577"/>
        <pc:sldMkLst>
          <pc:docMk/>
          <pc:sldMk cId="0" sldId="257"/>
        </pc:sldMkLst>
        <pc:spChg chg="mod">
          <ac:chgData name="Abeer Abdulrasool Al-Raisi" userId="S::abeer.alraisi@ohb.co.om::6376200b-4478-460e-8ae7-9b0072f6f167" providerId="AD" clId="Web-{02BDC3B8-E7E3-37D2-F9F4-D1960F645906}" dt="2026-10-14T12:08:07.050" v="77" actId="20577"/>
          <ac:spMkLst>
            <pc:docMk/>
            <pc:sldMk cId="0" sldId="257"/>
            <ac:spMk id="2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3:20.607" v="48"/>
          <ac:picMkLst>
            <pc:docMk/>
            <pc:sldMk cId="0" sldId="257"/>
            <ac:picMk id="4" creationId="{00000000-0000-0000-0000-000000000000}"/>
          </ac:picMkLst>
        </pc:picChg>
      </pc:sldChg>
      <pc:sldChg chg="delSp modSp">
        <pc:chgData name="Abeer Abdulrasool Al-Raisi" userId="S::abeer.alraisi@ohb.co.om::6376200b-4478-460e-8ae7-9b0072f6f167" providerId="AD" clId="Web-{02BDC3B8-E7E3-37D2-F9F4-D1960F645906}" dt="2026-10-14T12:03:28.029" v="49"/>
        <pc:sldMkLst>
          <pc:docMk/>
          <pc:sldMk cId="0" sldId="258"/>
        </pc:sldMkLst>
        <pc:spChg chg="mod">
          <ac:chgData name="Abeer Abdulrasool Al-Raisi" userId="S::abeer.alraisi@ohb.co.om::6376200b-4478-460e-8ae7-9b0072f6f167" providerId="AD" clId="Web-{02BDC3B8-E7E3-37D2-F9F4-D1960F645906}" dt="2026-10-14T12:01:17.214" v="46" actId="20577"/>
          <ac:spMkLst>
            <pc:docMk/>
            <pc:sldMk cId="0" sldId="258"/>
            <ac:spMk id="11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3:28.029" v="49"/>
          <ac:picMkLst>
            <pc:docMk/>
            <pc:sldMk cId="0" sldId="258"/>
            <ac:picMk id="4" creationId="{00000000-0000-0000-0000-000000000000}"/>
          </ac:picMkLst>
        </pc:picChg>
      </pc:sldChg>
      <pc:sldChg chg="addSp delSp modSp">
        <pc:chgData name="Abeer Abdulrasool Al-Raisi" userId="S::abeer.alraisi@ohb.co.om::6376200b-4478-460e-8ae7-9b0072f6f167" providerId="AD" clId="Web-{02BDC3B8-E7E3-37D2-F9F4-D1960F645906}" dt="2026-10-15T05:07:00.032" v="110" actId="20577"/>
        <pc:sldMkLst>
          <pc:docMk/>
          <pc:sldMk cId="0" sldId="259"/>
        </pc:sldMkLst>
        <pc:spChg chg="add mod">
          <ac:chgData name="Abeer Abdulrasool Al-Raisi" userId="S::abeer.alraisi@ohb.co.om::6376200b-4478-460e-8ae7-9b0072f6f167" providerId="AD" clId="Web-{02BDC3B8-E7E3-37D2-F9F4-D1960F645906}" dt="2026-10-15T05:06:48.595" v="102" actId="20577"/>
          <ac:spMkLst>
            <pc:docMk/>
            <pc:sldMk cId="0" sldId="259"/>
            <ac:spMk id="4" creationId="{3567F633-FB1A-F9C1-3F80-AEA2BBED77C4}"/>
          </ac:spMkLst>
        </pc:spChg>
        <pc:spChg chg="del mod">
          <ac:chgData name="Abeer Abdulrasool Al-Raisi" userId="S::abeer.alraisi@ohb.co.om::6376200b-4478-460e-8ae7-9b0072f6f167" providerId="AD" clId="Web-{02BDC3B8-E7E3-37D2-F9F4-D1960F645906}" dt="2026-10-15T05:06:33.173" v="8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beer Abdulrasool Al-Raisi" userId="S::abeer.alraisi@ohb.co.om::6376200b-4478-460e-8ae7-9b0072f6f167" providerId="AD" clId="Web-{02BDC3B8-E7E3-37D2-F9F4-D1960F645906}" dt="2026-10-15T05:07:00.032" v="110" actId="20577"/>
          <ac:spMkLst>
            <pc:docMk/>
            <pc:sldMk cId="0" sldId="259"/>
            <ac:spMk id="29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3:32.763" v="50"/>
          <ac:picMkLst>
            <pc:docMk/>
            <pc:sldMk cId="0" sldId="259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3:36.373" v="51"/>
        <pc:sldMkLst>
          <pc:docMk/>
          <pc:sldMk cId="0" sldId="260"/>
        </pc:sldMkLst>
        <pc:picChg chg="del">
          <ac:chgData name="Abeer Abdulrasool Al-Raisi" userId="S::abeer.alraisi@ohb.co.om::6376200b-4478-460e-8ae7-9b0072f6f167" providerId="AD" clId="Web-{02BDC3B8-E7E3-37D2-F9F4-D1960F645906}" dt="2026-10-14T12:03:36.373" v="51"/>
          <ac:picMkLst>
            <pc:docMk/>
            <pc:sldMk cId="0" sldId="260"/>
            <ac:picMk id="4" creationId="{00000000-0000-0000-0000-000000000000}"/>
          </ac:picMkLst>
        </pc:picChg>
      </pc:sldChg>
      <pc:sldChg chg="delSp modSp">
        <pc:chgData name="Abeer Abdulrasool Al-Raisi" userId="S::abeer.alraisi@ohb.co.om::6376200b-4478-460e-8ae7-9b0072f6f167" providerId="AD" clId="Web-{02BDC3B8-E7E3-37D2-F9F4-D1960F645906}" dt="2026-10-15T05:54:58.203" v="218" actId="20577"/>
        <pc:sldMkLst>
          <pc:docMk/>
          <pc:sldMk cId="0" sldId="261"/>
        </pc:sldMkLst>
        <pc:spChg chg="mod">
          <ac:chgData name="Abeer Abdulrasool Al-Raisi" userId="S::abeer.alraisi@ohb.co.om::6376200b-4478-460e-8ae7-9b0072f6f167" providerId="AD" clId="Web-{02BDC3B8-E7E3-37D2-F9F4-D1960F645906}" dt="2026-10-15T05:54:58.203" v="218" actId="20577"/>
          <ac:spMkLst>
            <pc:docMk/>
            <pc:sldMk cId="0" sldId="261"/>
            <ac:spMk id="9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3:38.748" v="52"/>
          <ac:picMkLst>
            <pc:docMk/>
            <pc:sldMk cId="0" sldId="261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3:41.264" v="53"/>
        <pc:sldMkLst>
          <pc:docMk/>
          <pc:sldMk cId="0" sldId="262"/>
        </pc:sldMkLst>
        <pc:picChg chg="del">
          <ac:chgData name="Abeer Abdulrasool Al-Raisi" userId="S::abeer.alraisi@ohb.co.om::6376200b-4478-460e-8ae7-9b0072f6f167" providerId="AD" clId="Web-{02BDC3B8-E7E3-37D2-F9F4-D1960F645906}" dt="2026-10-14T12:03:41.264" v="53"/>
          <ac:picMkLst>
            <pc:docMk/>
            <pc:sldMk cId="0" sldId="262"/>
            <ac:picMk id="4" creationId="{00000000-0000-0000-0000-000000000000}"/>
          </ac:picMkLst>
        </pc:picChg>
      </pc:sldChg>
      <pc:sldChg chg="delSp modSp">
        <pc:chgData name="Abeer Abdulrasool Al-Raisi" userId="S::abeer.alraisi@ohb.co.om::6376200b-4478-460e-8ae7-9b0072f6f167" providerId="AD" clId="Web-{02BDC3B8-E7E3-37D2-F9F4-D1960F645906}" dt="2026-10-15T05:24:51.442" v="126" actId="20577"/>
        <pc:sldMkLst>
          <pc:docMk/>
          <pc:sldMk cId="0" sldId="263"/>
        </pc:sldMkLst>
        <pc:spChg chg="del">
          <ac:chgData name="Abeer Abdulrasool Al-Raisi" userId="S::abeer.alraisi@ohb.co.om::6376200b-4478-460e-8ae7-9b0072f6f167" providerId="AD" clId="Web-{02BDC3B8-E7E3-37D2-F9F4-D1960F645906}" dt="2026-10-15T05:23:27.615" v="1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Abeer Abdulrasool Al-Raisi" userId="S::abeer.alraisi@ohb.co.om::6376200b-4478-460e-8ae7-9b0072f6f167" providerId="AD" clId="Web-{02BDC3B8-E7E3-37D2-F9F4-D1960F645906}" dt="2026-10-15T05:23:53.240" v="113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Abeer Abdulrasool Al-Raisi" userId="S::abeer.alraisi@ohb.co.om::6376200b-4478-460e-8ae7-9b0072f6f167" providerId="AD" clId="Web-{02BDC3B8-E7E3-37D2-F9F4-D1960F645906}" dt="2026-10-15T05:24:02.880" v="122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beer Abdulrasool Al-Raisi" userId="S::abeer.alraisi@ohb.co.om::6376200b-4478-460e-8ae7-9b0072f6f167" providerId="AD" clId="Web-{02BDC3B8-E7E3-37D2-F9F4-D1960F645906}" dt="2026-10-15T05:24:51.442" v="126" actId="20577"/>
          <ac:spMkLst>
            <pc:docMk/>
            <pc:sldMk cId="0" sldId="263"/>
            <ac:spMk id="18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3:43.123" v="54"/>
          <ac:picMkLst>
            <pc:docMk/>
            <pc:sldMk cId="0" sldId="263"/>
            <ac:picMk id="4" creationId="{00000000-0000-0000-0000-000000000000}"/>
          </ac:picMkLst>
        </pc:picChg>
      </pc:sldChg>
      <pc:sldChg chg="delSp modSp">
        <pc:chgData name="Abeer Abdulrasool Al-Raisi" userId="S::abeer.alraisi@ohb.co.om::6376200b-4478-460e-8ae7-9b0072f6f167" providerId="AD" clId="Web-{02BDC3B8-E7E3-37D2-F9F4-D1960F645906}" dt="2026-10-15T05:28:03.830" v="155"/>
        <pc:sldMkLst>
          <pc:docMk/>
          <pc:sldMk cId="0" sldId="264"/>
        </pc:sldMkLst>
        <pc:spChg chg="mod">
          <ac:chgData name="Abeer Abdulrasool Al-Raisi" userId="S::abeer.alraisi@ohb.co.om::6376200b-4478-460e-8ae7-9b0072f6f167" providerId="AD" clId="Web-{02BDC3B8-E7E3-37D2-F9F4-D1960F645906}" dt="2026-10-15T05:27:39.565" v="148" actId="2057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beer Abdulrasool Al-Raisi" userId="S::abeer.alraisi@ohb.co.om::6376200b-4478-460e-8ae7-9b0072f6f167" providerId="AD" clId="Web-{02BDC3B8-E7E3-37D2-F9F4-D1960F645906}" dt="2026-10-15T05:28:03.830" v="155"/>
          <ac:spMkLst>
            <pc:docMk/>
            <pc:sldMk cId="0" sldId="264"/>
            <ac:spMk id="22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3:45.373" v="55"/>
          <ac:picMkLst>
            <pc:docMk/>
            <pc:sldMk cId="0" sldId="264"/>
            <ac:picMk id="4" creationId="{00000000-0000-0000-0000-000000000000}"/>
          </ac:picMkLst>
        </pc:picChg>
      </pc:sldChg>
      <pc:sldChg chg="delSp modSp">
        <pc:chgData name="Abeer Abdulrasool Al-Raisi" userId="S::abeer.alraisi@ohb.co.om::6376200b-4478-460e-8ae7-9b0072f6f167" providerId="AD" clId="Web-{02BDC3B8-E7E3-37D2-F9F4-D1960F645906}" dt="2026-10-15T05:32:41.531" v="213" actId="20577"/>
        <pc:sldMkLst>
          <pc:docMk/>
          <pc:sldMk cId="0" sldId="265"/>
        </pc:sldMkLst>
        <pc:spChg chg="mod">
          <ac:chgData name="Abeer Abdulrasool Al-Raisi" userId="S::abeer.alraisi@ohb.co.om::6376200b-4478-460e-8ae7-9b0072f6f167" providerId="AD" clId="Web-{02BDC3B8-E7E3-37D2-F9F4-D1960F645906}" dt="2026-10-15T05:32:41.531" v="213" actId="20577"/>
          <ac:spMkLst>
            <pc:docMk/>
            <pc:sldMk cId="0" sldId="265"/>
            <ac:spMk id="9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3:51.779" v="56"/>
          <ac:picMkLst>
            <pc:docMk/>
            <pc:sldMk cId="0" sldId="265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3:53.733" v="57"/>
        <pc:sldMkLst>
          <pc:docMk/>
          <pc:sldMk cId="0" sldId="266"/>
        </pc:sldMkLst>
        <pc:picChg chg="del">
          <ac:chgData name="Abeer Abdulrasool Al-Raisi" userId="S::abeer.alraisi@ohb.co.om::6376200b-4478-460e-8ae7-9b0072f6f167" providerId="AD" clId="Web-{02BDC3B8-E7E3-37D2-F9F4-D1960F645906}" dt="2026-10-14T12:03:53.733" v="57"/>
          <ac:picMkLst>
            <pc:docMk/>
            <pc:sldMk cId="0" sldId="266"/>
            <ac:picMk id="4" creationId="{00000000-0000-0000-0000-000000000000}"/>
          </ac:picMkLst>
        </pc:picChg>
      </pc:sldChg>
      <pc:sldChg chg="delSp modSp">
        <pc:chgData name="Abeer Abdulrasool Al-Raisi" userId="S::abeer.alraisi@ohb.co.om::6376200b-4478-460e-8ae7-9b0072f6f167" providerId="AD" clId="Web-{02BDC3B8-E7E3-37D2-F9F4-D1960F645906}" dt="2026-10-15T06:01:28.058" v="236" actId="20577"/>
        <pc:sldMkLst>
          <pc:docMk/>
          <pc:sldMk cId="0" sldId="267"/>
        </pc:sldMkLst>
        <pc:spChg chg="mod">
          <ac:chgData name="Abeer Abdulrasool Al-Raisi" userId="S::abeer.alraisi@ohb.co.om::6376200b-4478-460e-8ae7-9b0072f6f167" providerId="AD" clId="Web-{02BDC3B8-E7E3-37D2-F9F4-D1960F645906}" dt="2026-10-15T06:00:17.012" v="230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Abeer Abdulrasool Al-Raisi" userId="S::abeer.alraisi@ohb.co.om::6376200b-4478-460e-8ae7-9b0072f6f167" providerId="AD" clId="Web-{02BDC3B8-E7E3-37D2-F9F4-D1960F645906}" dt="2026-10-15T06:00:49.558" v="231" actId="20577"/>
          <ac:spMkLst>
            <pc:docMk/>
            <pc:sldMk cId="0" sldId="267"/>
            <ac:spMk id="27" creationId="{00000000-0000-0000-0000-000000000000}"/>
          </ac:spMkLst>
        </pc:spChg>
        <pc:spChg chg="mod">
          <ac:chgData name="Abeer Abdulrasool Al-Raisi" userId="S::abeer.alraisi@ohb.co.om::6376200b-4478-460e-8ae7-9b0072f6f167" providerId="AD" clId="Web-{02BDC3B8-E7E3-37D2-F9F4-D1960F645906}" dt="2026-10-15T06:01:28.058" v="236" actId="20577"/>
          <ac:spMkLst>
            <pc:docMk/>
            <pc:sldMk cId="0" sldId="267"/>
            <ac:spMk id="35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3:56.623" v="58"/>
          <ac:picMkLst>
            <pc:docMk/>
            <pc:sldMk cId="0" sldId="267"/>
            <ac:picMk id="4" creationId="{00000000-0000-0000-0000-000000000000}"/>
          </ac:picMkLst>
        </pc:picChg>
      </pc:sldChg>
      <pc:sldChg chg="delSp modSp">
        <pc:chgData name="Abeer Abdulrasool Al-Raisi" userId="S::abeer.alraisi@ohb.co.om::6376200b-4478-460e-8ae7-9b0072f6f167" providerId="AD" clId="Web-{02BDC3B8-E7E3-37D2-F9F4-D1960F645906}" dt="2026-10-15T06:24:16.605" v="239" actId="20577"/>
        <pc:sldMkLst>
          <pc:docMk/>
          <pc:sldMk cId="0" sldId="268"/>
        </pc:sldMkLst>
        <pc:spChg chg="mod">
          <ac:chgData name="Abeer Abdulrasool Al-Raisi" userId="S::abeer.alraisi@ohb.co.om::6376200b-4478-460e-8ae7-9b0072f6f167" providerId="AD" clId="Web-{02BDC3B8-E7E3-37D2-F9F4-D1960F645906}" dt="2026-10-15T06:24:16.605" v="239" actId="20577"/>
          <ac:spMkLst>
            <pc:docMk/>
            <pc:sldMk cId="0" sldId="268"/>
            <ac:spMk id="8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3:57.873" v="59"/>
          <ac:picMkLst>
            <pc:docMk/>
            <pc:sldMk cId="0" sldId="268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4:01.233" v="60"/>
        <pc:sldMkLst>
          <pc:docMk/>
          <pc:sldMk cId="0" sldId="269"/>
        </pc:sldMkLst>
        <pc:picChg chg="del">
          <ac:chgData name="Abeer Abdulrasool Al-Raisi" userId="S::abeer.alraisi@ohb.co.om::6376200b-4478-460e-8ae7-9b0072f6f167" providerId="AD" clId="Web-{02BDC3B8-E7E3-37D2-F9F4-D1960F645906}" dt="2026-10-14T12:04:01.233" v="60"/>
          <ac:picMkLst>
            <pc:docMk/>
            <pc:sldMk cId="0" sldId="269"/>
            <ac:picMk id="4" creationId="{00000000-0000-0000-0000-000000000000}"/>
          </ac:picMkLst>
        </pc:picChg>
      </pc:sldChg>
      <pc:sldChg chg="delSp modSp">
        <pc:chgData name="Abeer Abdulrasool Al-Raisi" userId="S::abeer.alraisi@ohb.co.om::6376200b-4478-460e-8ae7-9b0072f6f167" providerId="AD" clId="Web-{02BDC3B8-E7E3-37D2-F9F4-D1960F645906}" dt="2026-10-14T12:04:26.233" v="67" actId="20577"/>
        <pc:sldMkLst>
          <pc:docMk/>
          <pc:sldMk cId="0" sldId="270"/>
        </pc:sldMkLst>
        <pc:spChg chg="mod">
          <ac:chgData name="Abeer Abdulrasool Al-Raisi" userId="S::abeer.alraisi@ohb.co.om::6376200b-4478-460e-8ae7-9b0072f6f167" providerId="AD" clId="Web-{02BDC3B8-E7E3-37D2-F9F4-D1960F645906}" dt="2026-10-14T12:04:26.233" v="67" actId="20577"/>
          <ac:spMkLst>
            <pc:docMk/>
            <pc:sldMk cId="0" sldId="270"/>
            <ac:spMk id="2" creationId="{00000000-0000-0000-0000-000000000000}"/>
          </ac:spMkLst>
        </pc:spChg>
        <pc:picChg chg="del">
          <ac:chgData name="Abeer Abdulrasool Al-Raisi" userId="S::abeer.alraisi@ohb.co.om::6376200b-4478-460e-8ae7-9b0072f6f167" providerId="AD" clId="Web-{02BDC3B8-E7E3-37D2-F9F4-D1960F645906}" dt="2026-10-14T12:04:04.561" v="61"/>
          <ac:picMkLst>
            <pc:docMk/>
            <pc:sldMk cId="0" sldId="270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4:10.467" v="62"/>
        <pc:sldMkLst>
          <pc:docMk/>
          <pc:sldMk cId="0" sldId="271"/>
        </pc:sldMkLst>
        <pc:picChg chg="del">
          <ac:chgData name="Abeer Abdulrasool Al-Raisi" userId="S::abeer.alraisi@ohb.co.om::6376200b-4478-460e-8ae7-9b0072f6f167" providerId="AD" clId="Web-{02BDC3B8-E7E3-37D2-F9F4-D1960F645906}" dt="2026-10-14T12:04:10.467" v="62"/>
          <ac:picMkLst>
            <pc:docMk/>
            <pc:sldMk cId="0" sldId="271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4:12.405" v="63"/>
        <pc:sldMkLst>
          <pc:docMk/>
          <pc:sldMk cId="0" sldId="272"/>
        </pc:sldMkLst>
        <pc:picChg chg="del">
          <ac:chgData name="Abeer Abdulrasool Al-Raisi" userId="S::abeer.alraisi@ohb.co.om::6376200b-4478-460e-8ae7-9b0072f6f167" providerId="AD" clId="Web-{02BDC3B8-E7E3-37D2-F9F4-D1960F645906}" dt="2026-10-14T12:04:12.405" v="63"/>
          <ac:picMkLst>
            <pc:docMk/>
            <pc:sldMk cId="0" sldId="272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4:38.265" v="68"/>
        <pc:sldMkLst>
          <pc:docMk/>
          <pc:sldMk cId="0" sldId="273"/>
        </pc:sldMkLst>
        <pc:picChg chg="del">
          <ac:chgData name="Abeer Abdulrasool Al-Raisi" userId="S::abeer.alraisi@ohb.co.om::6376200b-4478-460e-8ae7-9b0072f6f167" providerId="AD" clId="Web-{02BDC3B8-E7E3-37D2-F9F4-D1960F645906}" dt="2026-10-14T12:04:38.265" v="68"/>
          <ac:picMkLst>
            <pc:docMk/>
            <pc:sldMk cId="0" sldId="273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5:25.250" v="69"/>
        <pc:sldMkLst>
          <pc:docMk/>
          <pc:sldMk cId="0" sldId="274"/>
        </pc:sldMkLst>
        <pc:picChg chg="del">
          <ac:chgData name="Abeer Abdulrasool Al-Raisi" userId="S::abeer.alraisi@ohb.co.om::6376200b-4478-460e-8ae7-9b0072f6f167" providerId="AD" clId="Web-{02BDC3B8-E7E3-37D2-F9F4-D1960F645906}" dt="2026-10-14T12:05:25.250" v="69"/>
          <ac:picMkLst>
            <pc:docMk/>
            <pc:sldMk cId="0" sldId="274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5:26.859" v="70"/>
        <pc:sldMkLst>
          <pc:docMk/>
          <pc:sldMk cId="0" sldId="275"/>
        </pc:sldMkLst>
        <pc:picChg chg="del">
          <ac:chgData name="Abeer Abdulrasool Al-Raisi" userId="S::abeer.alraisi@ohb.co.om::6376200b-4478-460e-8ae7-9b0072f6f167" providerId="AD" clId="Web-{02BDC3B8-E7E3-37D2-F9F4-D1960F645906}" dt="2026-10-14T12:05:26.859" v="70"/>
          <ac:picMkLst>
            <pc:docMk/>
            <pc:sldMk cId="0" sldId="275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5:28.641" v="71"/>
        <pc:sldMkLst>
          <pc:docMk/>
          <pc:sldMk cId="0" sldId="276"/>
        </pc:sldMkLst>
        <pc:picChg chg="del">
          <ac:chgData name="Abeer Abdulrasool Al-Raisi" userId="S::abeer.alraisi@ohb.co.om::6376200b-4478-460e-8ae7-9b0072f6f167" providerId="AD" clId="Web-{02BDC3B8-E7E3-37D2-F9F4-D1960F645906}" dt="2026-10-14T12:05:28.641" v="71"/>
          <ac:picMkLst>
            <pc:docMk/>
            <pc:sldMk cId="0" sldId="276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5:42.578" v="72"/>
        <pc:sldMkLst>
          <pc:docMk/>
          <pc:sldMk cId="0" sldId="277"/>
        </pc:sldMkLst>
        <pc:picChg chg="del">
          <ac:chgData name="Abeer Abdulrasool Al-Raisi" userId="S::abeer.alraisi@ohb.co.om::6376200b-4478-460e-8ae7-9b0072f6f167" providerId="AD" clId="Web-{02BDC3B8-E7E3-37D2-F9F4-D1960F645906}" dt="2026-10-14T12:05:42.578" v="72"/>
          <ac:picMkLst>
            <pc:docMk/>
            <pc:sldMk cId="0" sldId="277"/>
            <ac:picMk id="4" creationId="{00000000-0000-0000-0000-000000000000}"/>
          </ac:picMkLst>
        </pc:picChg>
      </pc:sldChg>
      <pc:sldChg chg="delSp">
        <pc:chgData name="Abeer Abdulrasool Al-Raisi" userId="S::abeer.alraisi@ohb.co.om::6376200b-4478-460e-8ae7-9b0072f6f167" providerId="AD" clId="Web-{02BDC3B8-E7E3-37D2-F9F4-D1960F645906}" dt="2026-10-14T12:05:44.625" v="73"/>
        <pc:sldMkLst>
          <pc:docMk/>
          <pc:sldMk cId="0" sldId="278"/>
        </pc:sldMkLst>
        <pc:picChg chg="del">
          <ac:chgData name="Abeer Abdulrasool Al-Raisi" userId="S::abeer.alraisi@ohb.co.om::6376200b-4478-460e-8ae7-9b0072f6f167" providerId="AD" clId="Web-{02BDC3B8-E7E3-37D2-F9F4-D1960F645906}" dt="2026-10-14T12:05:44.625" v="73"/>
          <ac:picMkLst>
            <pc:docMk/>
            <pc:sldMk cId="0" sldId="278"/>
            <ac:picMk id="4" creationId="{00000000-0000-0000-0000-000000000000}"/>
          </ac:picMkLst>
        </pc:picChg>
      </pc:sldChg>
      <pc:sldChg chg="modSp add">
        <pc:chgData name="Abeer Abdulrasool Al-Raisi" userId="S::abeer.alraisi@ohb.co.om::6376200b-4478-460e-8ae7-9b0072f6f167" providerId="AD" clId="Web-{02BDC3B8-E7E3-37D2-F9F4-D1960F645906}" dt="2026-10-14T12:07:55.409" v="75" actId="20577"/>
        <pc:sldMkLst>
          <pc:docMk/>
          <pc:sldMk cId="2067722499" sldId="280"/>
        </pc:sldMkLst>
        <pc:spChg chg="mod">
          <ac:chgData name="Abeer Abdulrasool Al-Raisi" userId="S::abeer.alraisi@ohb.co.om::6376200b-4478-460e-8ae7-9b0072f6f167" providerId="AD" clId="Web-{02BDC3B8-E7E3-37D2-F9F4-D1960F645906}" dt="2026-10-14T12:07:55.409" v="75" actId="20577"/>
          <ac:spMkLst>
            <pc:docMk/>
            <pc:sldMk cId="2067722499" sldId="280"/>
            <ac:spMk id="9" creationId="{6BABC0AD-AEF8-641D-B906-8D1E9963ECA3}"/>
          </ac:spMkLst>
        </pc:spChg>
      </pc:sldChg>
      <pc:sldMasterChg chg="addSldLayout">
        <pc:chgData name="Abeer Abdulrasool Al-Raisi" userId="S::abeer.alraisi@ohb.co.om::6376200b-4478-460e-8ae7-9b0072f6f167" providerId="AD" clId="Web-{02BDC3B8-E7E3-37D2-F9F4-D1960F645906}" dt="2026-10-14T11:57:45.695" v="0"/>
        <pc:sldMasterMkLst>
          <pc:docMk/>
          <pc:sldMasterMk cId="0" sldId="2147483652"/>
        </pc:sldMasterMkLst>
        <pc:sldLayoutChg chg="add">
          <pc:chgData name="Abeer Abdulrasool Al-Raisi" userId="S::abeer.alraisi@ohb.co.om::6376200b-4478-460e-8ae7-9b0072f6f167" providerId="AD" clId="Web-{02BDC3B8-E7E3-37D2-F9F4-D1960F645906}" dt="2026-10-14T11:57:45.695" v="0"/>
          <pc:sldLayoutMkLst>
            <pc:docMk/>
            <pc:sldMasterMk cId="0" sldId="2147483648"/>
            <pc:sldLayoutMk cId="1755380330" sldId="2147483651"/>
          </pc:sldLayoutMkLst>
        </pc:sldLayoutChg>
      </pc:sldMasterChg>
    </pc:docChg>
  </pc:docChgLst>
  <pc:docChgLst>
    <pc:chgData name="Abeer Abdulrasool Al-Raisi" userId="6376200b-4478-460e-8ae7-9b0072f6f167" providerId="ADAL" clId="{3026897E-4C37-4F6A-9E5C-FD4447C79916}"/>
    <pc:docChg chg="custSel modSld">
      <pc:chgData name="Abeer Abdulrasool Al-Raisi" userId="6376200b-4478-460e-8ae7-9b0072f6f167" providerId="ADAL" clId="{3026897E-4C37-4F6A-9E5C-FD4447C79916}" dt="2026-10-15T08:34:06.003" v="3" actId="478"/>
      <pc:docMkLst>
        <pc:docMk/>
      </pc:docMkLst>
      <pc:sldChg chg="modNotesTx">
        <pc:chgData name="Abeer Abdulrasool Al-Raisi" userId="6376200b-4478-460e-8ae7-9b0072f6f167" providerId="ADAL" clId="{3026897E-4C37-4F6A-9E5C-FD4447C79916}" dt="2026-10-15T06:26:39.996" v="2" actId="20577"/>
        <pc:sldMkLst>
          <pc:docMk/>
          <pc:sldMk cId="0" sldId="268"/>
        </pc:sldMkLst>
      </pc:sldChg>
      <pc:sldChg chg="delSp mod">
        <pc:chgData name="Abeer Abdulrasool Al-Raisi" userId="6376200b-4478-460e-8ae7-9b0072f6f167" providerId="ADAL" clId="{3026897E-4C37-4F6A-9E5C-FD4447C79916}" dt="2026-10-15T08:34:06.003" v="3" actId="478"/>
        <pc:sldMkLst>
          <pc:docMk/>
          <pc:sldMk cId="0" sldId="279"/>
        </pc:sldMkLst>
        <pc:picChg chg="del">
          <ac:chgData name="Abeer Abdulrasool Al-Raisi" userId="6376200b-4478-460e-8ae7-9b0072f6f167" providerId="ADAL" clId="{3026897E-4C37-4F6A-9E5C-FD4447C79916}" dt="2026-10-15T08:34:06.003" v="3" actId="478"/>
          <ac:picMkLst>
            <pc:docMk/>
            <pc:sldMk cId="0" sldId="279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Executive Summary and Sections 2, 5 and 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1, 2.1, 4.1, 16, 21 and 23.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 5 and Annexure 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4.1, 6, 13, 15 and 19.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7, 8, 9, 11 and 13.1.1.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3, 6.2, 11, 13.1.4, 14 and 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 6.2.
Prioritization working discussion: proposed management simplification into Committed Goal, Stretch Goal and Pipeline Candidate.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5, 6.4, 11.2 and 13.2.1.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9, 11.2, 13.1.1 and 13.2.2.
Prioritization working discussion: three-level prioritization model.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Prioritization working discussion based on OHB framework roles and governance.
OHB Agile Delivery Framework v0.1, Sections 7.5, 8, 9 and 11.2.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Prioritization working discussion and screenshots supplied by the user: shared queue, gatekeeper de-risking, replenishment and continuity ideas.
OHB Agile Delivery Framework v0.1, Sections 7.2, 7.3, 9, 15 and Annexure L.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Prioritization working discussion based on service classes, readiness, WIP and visual ordering.
OHB Agile Delivery Framework v0.1, Sections 15, 16 and 17.
[/Sources]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Authorized: Is the work allowed to consume capacity?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confirm that the item belongs to an approved source of work, such as: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Committed Goal;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approved Stretch Goal;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operational or production-support reserve;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Technical Enabler allocation;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authorized Fixed-Date obligation;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valid Expedite item.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user story for automated demand notifications is authorized because notifications are part of the approved Demand Management MVP.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 Product Owner introduces an unrelated enhancement that was not included in the approved goal or capacity envelope, it does not proceed merely because the Product Owner considers it important.</a:t>
            </a:r>
          </a:p>
          <a:p>
            <a:endParaRPr lang="en-US" dirty="0"/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Ready: Is there enough information to start responsibly?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item must meet the applicable Definition of Ready. For a user story, this normally means: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expected outcome is clear;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acceptance criteria are testable;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story is appropriately sized;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 are understood;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required access, data and environments are identified;</a:t>
            </a:r>
          </a:p>
          <a:p>
            <a:pPr lvl="0"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unresolved issue prevents meaningful commencement.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notification story is authorized, but it cannot proceed if the recipient rules and trigger conditions have not been defined.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Authorized means OHB permits the work. Ready means the team can responsibly start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 17.
Estimation working discussion: progressive estimation by backlog layer.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17.1 and 17.2.
Prioritization screenshot discussion: capacity-allocation bucket method, adapted for OHB.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11.2, 13.1.2, 13.2 and Annexure S.
Proposed addition: Backlog Replenishment Meeting.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 13.2 and Annexure S.
Proposed addition: Backlog Replenishment Meeting.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13.3, 14, 15, 23 and 24.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16 and 17.2.
Prioritization discussion: adapted service classes and technical-enablement treatment.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7 and 9.
Prioritization discussion: gatekeeper de-risked through a neutral facilitator, documented policies and deputy.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 18.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Sections 26, 28 and 29.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v0.1, Executive Summary, Sections 26 and 28.
Prioritization and estimation working discussions.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OHB Agile Delivery Framework v0.1.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65196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Information</a:t>
            </a:r>
            <a:endParaRPr lang="en-US" sz="650"/>
          </a:p>
        </p:txBody>
      </p:sp>
      <p:sp>
        <p:nvSpPr>
          <p:cNvPr id="3" name="Text 1"/>
          <p:cNvSpPr/>
          <p:nvPr/>
        </p:nvSpPr>
        <p:spPr>
          <a:xfrm>
            <a:off x="9784080" y="651967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OHB Agile Delivery Framework</a:t>
            </a:r>
            <a:endParaRPr lang="en-US" sz="650"/>
          </a:p>
        </p:txBody>
      </p:sp>
      <p:sp>
        <p:nvSpPr>
          <p:cNvPr id="4" name="Shape 2"/>
          <p:cNvSpPr/>
          <p:nvPr/>
        </p:nvSpPr>
        <p:spPr>
          <a:xfrm>
            <a:off x="320040" y="6373368"/>
            <a:ext cx="11539728" cy="0"/>
          </a:xfrm>
          <a:prstGeom prst="line">
            <a:avLst/>
          </a:prstGeom>
          <a:noFill/>
          <a:ln w="8890">
            <a:solidFill>
              <a:srgbClr val="D8D3C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9972-FA06-9BFB-AA73-3C5A71824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8FCF4-6EC9-1D15-51D7-B2A88E5E5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47B25-2CCC-0F1F-BAB6-09C0812F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1C71F-8701-4701-A613-BE051E5A5859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7D927-9D2D-0710-6DC4-E0B14292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CFB70-F3C1-3999-A76C-CF4FA75C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4B41B-BC1D-46E3-98A3-C118701320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38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6C19-97E1-C995-A017-D1CFAFD8D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63112-F449-87A5-71E2-5DBD27FE9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EB72FD-6E1E-B068-86AC-D1A5EDE953B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BC785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ABC0AD-AEF8-641D-B906-8D1E9963ECA3}"/>
              </a:ext>
            </a:extLst>
          </p:cNvPr>
          <p:cNvSpPr/>
          <p:nvPr/>
        </p:nvSpPr>
        <p:spPr>
          <a:xfrm>
            <a:off x="409574" y="4660900"/>
            <a:ext cx="11372851" cy="1863724"/>
          </a:xfrm>
          <a:prstGeom prst="roundRect">
            <a:avLst>
              <a:gd name="adj" fmla="val 6531"/>
            </a:avLst>
          </a:prstGeom>
          <a:gradFill flip="none" rotWithShape="1">
            <a:gsLst>
              <a:gs pos="2000">
                <a:srgbClr val="123038">
                  <a:alpha val="80000"/>
                </a:srgbClr>
              </a:gs>
              <a:gs pos="51000">
                <a:srgbClr val="1B414A">
                  <a:alpha val="80000"/>
                </a:srgbClr>
              </a:gs>
              <a:gs pos="100000">
                <a:srgbClr val="2D7275">
                  <a:alpha val="8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45720" rIns="180000" bIns="45720" rtlCol="0" anchor="ctr"/>
          <a:lstStyle/>
          <a:p>
            <a:pPr marL="0" lvl="1">
              <a:defRPr/>
            </a:pPr>
            <a:r>
              <a:rPr lang="en-US" sz="2800" ker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/>
              </a:rPr>
              <a:t>HOW AGILE WILL RUN IN OHB (SCRUMBAN)</a:t>
            </a:r>
            <a:endParaRPr lang="en-US">
              <a:solidFill>
                <a:prstClr val="white"/>
              </a:solidFill>
            </a:endParaRPr>
          </a:p>
          <a:p>
            <a:pPr marL="0">
              <a:defRPr/>
            </a:pPr>
            <a:r>
              <a:rPr lang="en-US" sz="24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Light"/>
              </a:rPr>
              <a:t>Executive proposal for a controlled </a:t>
            </a:r>
            <a:r>
              <a:rPr lang="en-US" sz="2400" kern="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Light"/>
              </a:rPr>
              <a:t>Scrumban</a:t>
            </a:r>
            <a:r>
              <a:rPr lang="en-US" sz="24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Light"/>
              </a:rPr>
              <a:t> operating model</a:t>
            </a:r>
          </a:p>
          <a:p>
            <a:pPr>
              <a:defRPr/>
            </a:pPr>
            <a:endParaRPr lang="en-US" sz="2400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Light"/>
              <a:ea typeface="Araboto-Light" panose="02000500000000000000" pitchFamily="2" charset="0"/>
              <a:cs typeface="Araboto-Light" panose="02000500000000000000" pitchFamily="2" charset="0"/>
            </a:endParaRPr>
          </a:p>
          <a:p>
            <a:pPr>
              <a:defRPr/>
            </a:pPr>
            <a:r>
              <a:rPr lang="en-US" sz="1200" kern="0">
                <a:solidFill>
                  <a:srgbClr val="D8E7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  <a:ea typeface="Araboto-Light" panose="02000500000000000000" pitchFamily="2" charset="0"/>
                <a:cs typeface="Araboto-Light" panose="02000500000000000000" pitchFamily="2" charset="0"/>
              </a:rPr>
              <a:t>One shared team • Multiple products • Quarterly outcomes • Evidence-based flow</a:t>
            </a:r>
            <a:endParaRPr lang="en-US" sz="1200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/>
              <a:ea typeface="Araboto-Light" panose="02000500000000000000" pitchFamily="2" charset="0"/>
              <a:cs typeface="Araboto-Light" panose="02000500000000000000" pitchFamily="2" charset="0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300" normalizeH="0" baseline="0" noProof="0">
                <a:ln>
                  <a:noFill/>
                </a:ln>
                <a:solidFill>
                  <a:srgbClr val="EAA0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SemiBold"/>
                <a:ea typeface="Araboto-Black" panose="02000500000000000000" pitchFamily="2" charset="0"/>
                <a:cs typeface="Araboto-Black" panose="02000500000000000000" pitchFamily="2" charset="0"/>
              </a:rPr>
              <a:t>OCTOBER 2026</a:t>
            </a:r>
            <a:endParaRPr lang="en-US" sz="1600" b="0" i="0" u="none" strike="noStrike" kern="0" cap="none" spc="300" normalizeH="0" baseline="0" noProof="0">
              <a:ln>
                <a:noFill/>
              </a:ln>
              <a:solidFill>
                <a:srgbClr val="EAA07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ptos SemiBold"/>
              <a:ea typeface="Araboto-Black" panose="02000500000000000000" pitchFamily="2" charset="0"/>
              <a:cs typeface="Araboto-Black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22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16A6E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Executive Agenda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From strategic need to operating decisions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475488" cy="475488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50976" y="1527048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572768" y="1453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</a:rPr>
              <a:t>Why this model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60704" y="1892808"/>
            <a:ext cx="1" cy="347472"/>
          </a:xfrm>
          <a:prstGeom prst="line">
            <a:avLst/>
          </a:prstGeom>
          <a:noFill/>
          <a:ln w="1778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2960" y="2240280"/>
            <a:ext cx="475488" cy="475488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0976" y="2350008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72768" y="2276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</a:rPr>
              <a:t>How work moves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60704" y="2715768"/>
            <a:ext cx="1" cy="347472"/>
          </a:xfrm>
          <a:prstGeom prst="line">
            <a:avLst/>
          </a:prstGeom>
          <a:noFill/>
          <a:ln w="1778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2960" y="3063240"/>
            <a:ext cx="475488" cy="475488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50976" y="3172968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72768" y="30998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</a:rPr>
              <a:t>How priorities are set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60704" y="3538728"/>
            <a:ext cx="1" cy="347472"/>
          </a:xfrm>
          <a:prstGeom prst="line">
            <a:avLst/>
          </a:prstGeom>
          <a:noFill/>
          <a:ln w="1778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22960" y="3886200"/>
            <a:ext cx="475488" cy="475488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50976" y="3995928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572768" y="39227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</a:rPr>
              <a:t>How delivery runs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60704" y="4361688"/>
            <a:ext cx="1" cy="347472"/>
          </a:xfrm>
          <a:prstGeom prst="line">
            <a:avLst/>
          </a:prstGeom>
          <a:noFill/>
          <a:ln w="1778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22960" y="4709160"/>
            <a:ext cx="475488" cy="475488"/>
          </a:xfrm>
          <a:prstGeom prst="ellipse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50976" y="4818888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572768" y="4745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8"/>
                </a:solidFill>
              </a:rPr>
              <a:t>What management decides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29400" y="1417320"/>
            <a:ext cx="4434840" cy="3611880"/>
          </a:xfrm>
          <a:prstGeom prst="roundRect">
            <a:avLst>
              <a:gd name="adj" fmla="val 2025"/>
            </a:avLst>
          </a:prstGeom>
          <a:solidFill>
            <a:srgbClr val="F1E2DA"/>
          </a:solidFill>
          <a:ln w="10160">
            <a:solidFill>
              <a:srgbClr val="E0E4E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417320"/>
            <a:ext cx="64008" cy="361188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30568" y="1581912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Management outcome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30568" y="1984248"/>
            <a:ext cx="4087368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A clear operating model that separates strategic commitment, product priority, delivery sequencing, and technical execution, while preserving OHB controls and evidence.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The objective is not “more Agile ceremonies”; it is faster learning with clearer commitments and stronger control.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OHB needs a tailored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The operating challenge is broader than a single Scrum product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4360" y="132588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325880"/>
            <a:ext cx="64008" cy="137160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95528" y="149047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Multiple products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" y="1892808"/>
            <a:ext cx="4818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Independent backlogs and Product Owners compete for one delivery pool.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72200" y="1325880"/>
            <a:ext cx="64008" cy="137160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73368" y="149047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263238"/>
                </a:solidFill>
              </a:rPr>
              <a:t>Mixed work classes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73368" y="1892808"/>
            <a:ext cx="4818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MVP development, enhancements, UAT, defects and production support consume the same capacity.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59436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4360" y="3017520"/>
            <a:ext cx="64008" cy="137160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95528" y="318211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Fixed management horizons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" y="3584448"/>
            <a:ext cx="4818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Management needs quarter-level outcomes while detailed scope continues to evolve.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617220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72200" y="3017520"/>
            <a:ext cx="64008" cy="1371600"/>
          </a:xfrm>
          <a:prstGeom prst="rect">
            <a:avLst/>
          </a:prstGeom>
          <a:solidFill>
            <a:srgbClr val="D49A53"/>
          </a:solidFill>
          <a:ln w="127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73368" y="3182112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Regulated delivery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73368" y="3584448"/>
            <a:ext cx="4818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Security, Risk, Compliance, CX, VAPT, CAB and audit evidence must be integrated, not deferred.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Selected response: Scrum cadence + Kanban flow controls + DevOps ownership + OHB governance.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operating premise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Agile values are translated into OHB delivery behaviours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2344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64008" cy="187452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4088" y="139903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People &amp; collaboration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1801368"/>
            <a:ext cx="225856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Direct decisions and continuous business participation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383280" y="12344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83280" y="1234440"/>
            <a:ext cx="64008" cy="187452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84448" y="139903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Working software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84448" y="1801368"/>
            <a:ext cx="225856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Progress evidenced by integrated, tested functionality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263640" y="12344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63640" y="1234440"/>
            <a:ext cx="64008" cy="187452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64808" y="139903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Responsiveness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64808" y="1801368"/>
            <a:ext cx="225856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Detailed scope may evolve inside approved boundaries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9144000" y="12344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144000" y="1234440"/>
            <a:ext cx="64008" cy="1874520"/>
          </a:xfrm>
          <a:prstGeom prst="rect">
            <a:avLst/>
          </a:prstGeom>
          <a:solidFill>
            <a:srgbClr val="D49A53"/>
          </a:solidFill>
          <a:ln w="127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345168" y="139903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Sustainable quality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45168" y="1801368"/>
            <a:ext cx="225856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Controls, quality and supportability built into delivery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64008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6A6E"/>
                </a:solidFill>
              </a:rPr>
              <a:t>OHB DELIVERY PRINCIPLES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88620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4944" y="3931920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16A6E"/>
                </a:solidFill>
              </a:rPr>
              <a:t>Outcome before output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3429000" y="388620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483864" y="3931920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16A6E"/>
                </a:solidFill>
              </a:rPr>
              <a:t>Finish before starting more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217920" y="388620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006840" y="388620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061704" y="3931920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016A6E"/>
                </a:solidFill>
              </a:rPr>
              <a:t>Variable </a:t>
            </a:r>
            <a:r>
              <a:rPr lang="en-US" sz="800" b="1">
                <a:solidFill>
                  <a:srgbClr val="016A6E"/>
                </a:solidFill>
              </a:rPr>
              <a:t>scope with explicit</a:t>
            </a:r>
            <a:r>
              <a:rPr lang="en-US" sz="800" b="1" dirty="0">
                <a:solidFill>
                  <a:srgbClr val="016A6E"/>
                </a:solidFill>
              </a:rPr>
              <a:t> trade-offs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40080" y="443484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94944" y="4480560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BD7753"/>
                </a:solidFill>
              </a:rPr>
              <a:t>Controls by design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3429000" y="443484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483864" y="4480560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BD7753"/>
                </a:solidFill>
              </a:rPr>
              <a:t>Visible constraints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6217920" y="443484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272784" y="4480560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BD7753"/>
                </a:solidFill>
              </a:rPr>
              <a:t>Evidence as work progresses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9006840" y="443484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061704" y="4480560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BD7753"/>
                </a:solidFill>
              </a:rPr>
              <a:t>Measure the system</a:t>
            </a:r>
            <a:endParaRPr lang="en-US" sz="82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" name="Text 22">
            <a:extLst>
              <a:ext uri="{FF2B5EF4-FFF2-40B4-BE49-F238E27FC236}">
                <a16:creationId xmlns:a16="http://schemas.microsoft.com/office/drawing/2014/main" id="{3567F633-FB1A-F9C1-3F80-AEA2BBED77C4}"/>
              </a:ext>
            </a:extLst>
          </p:cNvPr>
          <p:cNvSpPr/>
          <p:nvPr/>
        </p:nvSpPr>
        <p:spPr>
          <a:xfrm>
            <a:off x="6261153" y="3931920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016A6E"/>
                </a:solidFill>
              </a:rPr>
              <a:t>Validate early and continuously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selected OHB operating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Scrumban at team level, governed through quarterly portfolio decisions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64008" cy="246888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41248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Quarterly governance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121408"/>
            <a:ext cx="2029968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Select outcomes, capacity and commitment categories.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081528" y="2542032"/>
            <a:ext cx="301752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74720" y="155448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74720" y="1554480"/>
            <a:ext cx="64008" cy="246888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75888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Scrum cadence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75888" y="2121408"/>
            <a:ext cx="2029968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Plan, review and improve through timeboxed cycles.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5916168" y="2542032"/>
            <a:ext cx="301752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309360" y="155448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09360" y="1554480"/>
            <a:ext cx="64008" cy="246888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10528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Kanban flow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10528" y="2121408"/>
            <a:ext cx="2029968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Pull ready work, limit WIP and expose aging or blockers.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8750808" y="2542032"/>
            <a:ext cx="301752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144000" y="155448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144000" y="1554480"/>
            <a:ext cx="64008" cy="2468880"/>
          </a:xfrm>
          <a:prstGeom prst="rect">
            <a:avLst/>
          </a:prstGeom>
          <a:solidFill>
            <a:srgbClr val="D49A53"/>
          </a:solidFill>
          <a:ln w="127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345168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DevOps ownership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345168" y="2121408"/>
            <a:ext cx="2029968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Build, deploy, monitor, support and improve what the team delivers.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One stable cross-product team; one consolidated roadmap; separate product backlogs; one shared delivery queue.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follows the decision horizon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Decisions are made at the lowest appropriate level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E6E8E6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238"/>
                </a:solidFill>
              </a:rPr>
              <a:t>Annual / demand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063240" y="1362456"/>
            <a:ext cx="384048" cy="292608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11880" y="13350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63238"/>
                </a:solidFill>
              </a:rPr>
              <a:t>Approve needs and funding direction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7863840" y="1335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016A6E"/>
                </a:solidFill>
              </a:rPr>
              <a:t>Corporate approval authority &gt; ExCom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2075688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F1E2DA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238"/>
                </a:solidFill>
              </a:rPr>
              <a:t>Quarterly portfolio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63240" y="2203704"/>
            <a:ext cx="384048" cy="292608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11880" y="2176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63238"/>
                </a:solidFill>
              </a:rPr>
              <a:t>Select goals and allocate scarce capacity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786384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6A6E"/>
                </a:solidFill>
              </a:rPr>
              <a:t>Agile Management Group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" y="2916936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E7F0E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0723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238"/>
                </a:solidFill>
              </a:rPr>
              <a:t>Product / feature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63240" y="3044952"/>
            <a:ext cx="384048" cy="292608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118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63238"/>
                </a:solidFill>
              </a:rPr>
              <a:t>Order value within approved objectives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786384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6A6E"/>
                </a:solidFill>
              </a:rPr>
              <a:t>Product Owner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1520" y="3758184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E7F0E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238"/>
                </a:solidFill>
              </a:rPr>
              <a:t>Sprint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063240" y="3886200"/>
            <a:ext cx="384048" cy="292608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11880" y="3858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63238"/>
                </a:solidFill>
              </a:rPr>
              <a:t>Set Sprint Goal and select feasible ready work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7863840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6A6E"/>
                </a:solidFill>
              </a:rPr>
              <a:t>Scrum Team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31520" y="4599432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E7F0E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14400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238"/>
                </a:solidFill>
              </a:rPr>
              <a:t>Daily flow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63240" y="4727448"/>
            <a:ext cx="384048" cy="292608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11880" y="4700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63238"/>
                </a:solidFill>
              </a:rPr>
              <a:t>Pull the next eligible item and manage WIP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7863840" y="47000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6A6E"/>
                </a:solidFill>
              </a:rPr>
              <a:t>Development Team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Management chooses outcomes; Product Owners choose value order; the team chooses the feasible plan and technical sequence.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lifecycle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Demand is progressively clarified before delivery commitment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20040" y="1874520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E7ECEA"/>
          </a:solidFill>
          <a:ln w="1397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93192" y="20574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63238"/>
                </a:solidFill>
              </a:rPr>
              <a:t>DEMAND</a:t>
            </a:r>
            <a:endParaRPr lang="en-US" sz="880" dirty="0"/>
          </a:p>
        </p:txBody>
      </p:sp>
      <p:sp>
        <p:nvSpPr>
          <p:cNvPr id="7" name="Text 4"/>
          <p:cNvSpPr/>
          <p:nvPr/>
        </p:nvSpPr>
        <p:spPr>
          <a:xfrm>
            <a:off x="393192" y="2359152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Problem, sponsor, target outcome</a:t>
            </a:r>
            <a:endParaRPr lang="en-US" sz="680" dirty="0"/>
          </a:p>
        </p:txBody>
      </p:sp>
      <p:sp>
        <p:nvSpPr>
          <p:cNvPr id="8" name="Shape 5"/>
          <p:cNvSpPr/>
          <p:nvPr/>
        </p:nvSpPr>
        <p:spPr>
          <a:xfrm>
            <a:off x="1764792" y="2212848"/>
            <a:ext cx="237744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02536" y="1874520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E7ECEA"/>
          </a:solidFill>
          <a:ln w="1397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075688" y="20574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63238"/>
                </a:solidFill>
              </a:rPr>
              <a:t>PIPELINE CANDIDATE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2075688" y="2359152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Discovery and uncertainty reduction</a:t>
            </a:r>
            <a:endParaRPr lang="en-US" sz="680" dirty="0"/>
          </a:p>
        </p:txBody>
      </p:sp>
      <p:sp>
        <p:nvSpPr>
          <p:cNvPr id="12" name="Shape 9"/>
          <p:cNvSpPr/>
          <p:nvPr/>
        </p:nvSpPr>
        <p:spPr>
          <a:xfrm>
            <a:off x="3447288" y="2212848"/>
            <a:ext cx="237744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85032" y="1874520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F1E2DA"/>
          </a:solidFill>
          <a:ln w="1397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758184" y="20574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63238"/>
                </a:solidFill>
              </a:rPr>
              <a:t>FORECAST / STRETCH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3758184" y="2359152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Planning-ready; indicative quarter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5129784" y="2212848"/>
            <a:ext cx="237744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367528" y="1874520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016A6E"/>
          </a:solidFill>
          <a:ln w="1397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40680" y="20574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COMMITTED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5440680" y="2359152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4F2F0"/>
                </a:solidFill>
              </a:rPr>
              <a:t>Capacity allocated; integrated plan approved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6812280" y="2212848"/>
            <a:ext cx="237744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050024" y="1874520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E7F0EF"/>
          </a:solidFill>
          <a:ln w="1397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23176" y="20574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63238"/>
                </a:solidFill>
              </a:rPr>
              <a:t>DELIVERY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7123176" y="2359152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Sprint goals + pull flow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8494776" y="2212848"/>
            <a:ext cx="237744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732520" y="1874520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E7F0EF"/>
          </a:solidFill>
          <a:ln w="1397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805672" y="20574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63238"/>
                </a:solidFill>
              </a:rPr>
              <a:t>RELEASE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8805672" y="2359152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UAT, controls, CAB, production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10177272" y="2212848"/>
            <a:ext cx="237744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415016" y="1874520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DDE9E2"/>
          </a:solidFill>
          <a:ln w="1397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488168" y="20574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63238"/>
                </a:solidFill>
              </a:rPr>
              <a:t>VALUE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10488168" y="2359152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Stabilization and KPI review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1234440" y="3246120"/>
            <a:ext cx="384048" cy="384048"/>
          </a:xfrm>
          <a:prstGeom prst="diamond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307592" y="33741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G1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914400" y="373075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67475"/>
                </a:solidFill>
              </a:rPr>
              <a:t>Demand approval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2916936" y="3246120"/>
            <a:ext cx="384048" cy="384048"/>
          </a:xfrm>
          <a:prstGeom prst="diamond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990088" y="33741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G2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2596896" y="373075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67475"/>
                </a:solidFill>
              </a:rPr>
              <a:t>Discovery readiness</a:t>
            </a:r>
            <a:endParaRPr lang="en-US" sz="740" dirty="0"/>
          </a:p>
        </p:txBody>
      </p:sp>
      <p:sp>
        <p:nvSpPr>
          <p:cNvPr id="38" name="Shape 35"/>
          <p:cNvSpPr/>
          <p:nvPr/>
        </p:nvSpPr>
        <p:spPr>
          <a:xfrm>
            <a:off x="4599432" y="3246120"/>
            <a:ext cx="384048" cy="384048"/>
          </a:xfrm>
          <a:prstGeom prst="diamond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672584" y="33741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G3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4279392" y="373075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67475"/>
                </a:solidFill>
              </a:rPr>
              <a:t>Quarterly planning</a:t>
            </a:r>
            <a:endParaRPr lang="en-US" sz="740" dirty="0"/>
          </a:p>
        </p:txBody>
      </p:sp>
      <p:sp>
        <p:nvSpPr>
          <p:cNvPr id="41" name="Shape 38"/>
          <p:cNvSpPr/>
          <p:nvPr/>
        </p:nvSpPr>
        <p:spPr>
          <a:xfrm>
            <a:off x="6281928" y="3246120"/>
            <a:ext cx="384048" cy="384048"/>
          </a:xfrm>
          <a:prstGeom prst="diamond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355080" y="33741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G4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5961888" y="373075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67475"/>
                </a:solidFill>
              </a:rPr>
              <a:t>Story ready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7964424" y="3246120"/>
            <a:ext cx="384048" cy="384048"/>
          </a:xfrm>
          <a:prstGeom prst="diamond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037576" y="33741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G5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7644384" y="373075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67475"/>
                </a:solidFill>
              </a:rPr>
              <a:t>UAT accepted</a:t>
            </a:r>
            <a:endParaRPr lang="en-US" sz="740" dirty="0"/>
          </a:p>
        </p:txBody>
      </p:sp>
      <p:sp>
        <p:nvSpPr>
          <p:cNvPr id="47" name="Shape 44"/>
          <p:cNvSpPr/>
          <p:nvPr/>
        </p:nvSpPr>
        <p:spPr>
          <a:xfrm>
            <a:off x="9646920" y="3246120"/>
            <a:ext cx="384048" cy="384048"/>
          </a:xfrm>
          <a:prstGeom prst="diamond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9720072" y="33741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G6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9326880" y="3730752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67475"/>
                </a:solidFill>
              </a:rPr>
              <a:t>Release ready</a:t>
            </a:r>
            <a:endParaRPr lang="en-US" sz="740" dirty="0"/>
          </a:p>
        </p:txBody>
      </p:sp>
      <p:sp>
        <p:nvSpPr>
          <p:cNvPr id="50" name="Shape 47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Readiness increases by stage; detail is added only when needed for the next decision.</a:t>
            </a:r>
            <a:endParaRPr lang="en-US" sz="11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management sees the roadmap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85800" y="132588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E7F0E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1325880"/>
            <a:ext cx="64008" cy="333756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6968" y="149047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3238"/>
                </a:solidFill>
              </a:rPr>
              <a:t>Committed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886968" y="1892808"/>
            <a:ext cx="3081528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What OHB expects to deliver. Quarterly planning confirms mandatory MVP scope, capabilities, dependencies, controls, testing, release activities and confirmed capacity.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389120" y="132588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1E2DA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89120" y="1325880"/>
            <a:ext cx="64008" cy="333756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90288" y="149047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3238"/>
                </a:solidFill>
              </a:rPr>
              <a:t>Forecast</a:t>
            </a:r>
            <a:endParaRPr lang="en-US" sz="1300" b="1" dirty="0">
              <a:solidFill>
                <a:srgbClr val="263238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590288" y="1892808"/>
            <a:ext cx="3081528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Planning-ready work OHB intends to pursue if capacity or another explicit condition is met. Shown separately and excluded from commitment-reliability reporting.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8092440" y="132588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EDF3F0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92440" y="1325880"/>
            <a:ext cx="64008" cy="333756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93608" y="149047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Pipeline Candidate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93608" y="1892808"/>
            <a:ext cx="3081528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Approved demand still undergoing discovery or refinement. Show discovery timing and decision date, not a production commitment.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777240" y="50474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7753"/>
                </a:solidFill>
              </a:rPr>
              <a:t>Decision required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286000" y="5038344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Adopt this management </a:t>
            </a:r>
            <a:r>
              <a:rPr lang="en-US" sz="1100">
                <a:solidFill>
                  <a:srgbClr val="263238"/>
                </a:solidFill>
              </a:rPr>
              <a:t>view.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 the MVP boundary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Commit the outcome and mandatory feature groups, not every detailed story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097280" y="1371600"/>
            <a:ext cx="4754880" cy="3749040"/>
          </a:xfrm>
          <a:prstGeom prst="ellipse">
            <a:avLst/>
          </a:prstGeom>
          <a:solidFill>
            <a:srgbClr val="E7F0EF"/>
          </a:solidFill>
          <a:ln w="254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920240" y="2011680"/>
            <a:ext cx="3108960" cy="2423160"/>
          </a:xfrm>
          <a:prstGeom prst="ellipse">
            <a:avLst/>
          </a:prstGeom>
          <a:solidFill>
            <a:srgbClr val="D2E6E3"/>
          </a:solidFill>
          <a:ln w="19050">
            <a:solidFill>
              <a:srgbClr val="2E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61488" y="2670048"/>
            <a:ext cx="1417320" cy="1097280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926080" y="2898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MANDATORY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MVP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1460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6A6E"/>
                </a:solidFill>
              </a:rPr>
              <a:t>STRETCH MVP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56232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238"/>
                </a:solidFill>
              </a:rPr>
              <a:t>POST-MVP ENHANCEMENTS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37960" y="132588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37960" y="1325880"/>
            <a:ext cx="64008" cy="96012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39128" y="1490472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Mandatory MVP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39128" y="1892808"/>
            <a:ext cx="427024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Required for the approved objective, KPI, control or viable user journey.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537960" y="2624328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537960" y="2624328"/>
            <a:ext cx="64008" cy="96012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39128" y="278892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Stretch MVP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39128" y="3191256"/>
            <a:ext cx="427024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Valuable but deferrable while preserving the MVP objective.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537960" y="3922776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37960" y="3922776"/>
            <a:ext cx="64008" cy="96012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39128" y="4087368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63238"/>
                </a:solidFill>
              </a:rPr>
              <a:t>Post-MVP Enhancements / Standard </a:t>
            </a:r>
            <a:r>
              <a:rPr lang="en-US" sz="1300" b="1" dirty="0" err="1">
                <a:solidFill>
                  <a:srgbClr val="263238"/>
                </a:solidFill>
              </a:rPr>
              <a:t>Wor</a:t>
            </a:r>
            <a:r>
              <a:rPr lang="en-US" sz="1300" b="1" dirty="0">
                <a:solidFill>
                  <a:srgbClr val="263238"/>
                </a:solidFill>
              </a:rPr>
              <a:t>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39128" y="4489704"/>
            <a:ext cx="427024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960">
                <a:solidFill>
                  <a:srgbClr val="667475"/>
                </a:solidFill>
              </a:rPr>
              <a:t>Further</a:t>
            </a:r>
            <a:r>
              <a:rPr lang="en-US" sz="960" dirty="0">
                <a:solidFill>
                  <a:srgbClr val="667475"/>
                </a:solidFill>
              </a:rPr>
              <a:t> improvements and automation that are not required for first </a:t>
            </a:r>
            <a:r>
              <a:rPr lang="en-US" sz="960">
                <a:solidFill>
                  <a:srgbClr val="667475"/>
                </a:solidFill>
              </a:rPr>
              <a:t>productive use.</a:t>
            </a:r>
            <a:endParaRPr lang="en-US" sz="960" dirty="0">
              <a:solidFill>
                <a:srgbClr val="667475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 scope addition must create a visible trade-off: defer other scope, use approved contingency, or revise the forecast.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Prioritization happens at three connected levels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One universal score should not be used from demand to story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3232" y="1170432"/>
            <a:ext cx="10744200" cy="1115568"/>
          </a:xfrm>
          <a:prstGeom prst="roundRect">
            <a:avLst>
              <a:gd name="adj" fmla="val 4918"/>
            </a:avLst>
          </a:prstGeom>
          <a:solidFill>
            <a:srgbClr val="F1E2DA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32688" y="13350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7753"/>
                </a:solidFill>
              </a:rPr>
              <a:t>1. QUARTERLY PORTFOLIO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74720" y="1307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MVP goals, material enhancements, technical enablers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52360" y="13075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016A6E"/>
                </a:solidFill>
              </a:rPr>
              <a:t>Agile Management Group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7452360" y="17099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667475"/>
                </a:solidFill>
              </a:rPr>
              <a:t>Output: Committed / Forecast / Candidate</a:t>
            </a:r>
            <a:endParaRPr lang="en-US" sz="850"/>
          </a:p>
        </p:txBody>
      </p:sp>
      <p:sp>
        <p:nvSpPr>
          <p:cNvPr id="10" name="Shape 7"/>
          <p:cNvSpPr/>
          <p:nvPr/>
        </p:nvSpPr>
        <p:spPr>
          <a:xfrm>
            <a:off x="713232" y="2651760"/>
            <a:ext cx="10744200" cy="1115568"/>
          </a:xfrm>
          <a:prstGeom prst="roundRect">
            <a:avLst>
              <a:gd name="adj" fmla="val 4918"/>
            </a:avLst>
          </a:prstGeom>
          <a:solidFill>
            <a:srgbClr val="E7F0E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32688" y="2816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6A6E"/>
                </a:solidFill>
              </a:rPr>
              <a:t>2. PRODUCT &amp; FEATURE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0" y="2788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Mandatory MVP, Stretch MVP, post-MVP features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52360" y="27889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016A6E"/>
                </a:solidFill>
              </a:rPr>
              <a:t>Product Owner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7452360" y="31912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67475"/>
                </a:solidFill>
              </a:rPr>
              <a:t>Output: ordered feature groups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13232" y="4133088"/>
            <a:ext cx="107442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32688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6A6E"/>
                </a:solidFill>
              </a:rPr>
              <a:t>3. SPRINT &amp; FLOW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74720" y="42702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Ready stories, defects, enablers and operational work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52360" y="42702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016A6E"/>
                </a:solidFill>
              </a:rPr>
              <a:t>Scrum Team / Development Team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7452360" y="46725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67475"/>
                </a:solidFill>
              </a:rPr>
              <a:t>Output: Sprint Goal + shared Ready Queue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Approved demand does not equal permission to start; readiness and capacity precede commitment.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Decision: how should cross-product priority be resolved?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Three viable operating options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23444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E7F0E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64008" cy="416052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4088" y="139903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A. Executive-led quarterly order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1801368"/>
            <a:ext cx="3172968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The Agile Management Group ranks outcomes quarterly; weekly replenishment executes within those boundaries.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731520" y="3337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6A6E"/>
                </a:solidFill>
              </a:rPr>
              <a:t>Strength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463040" y="3300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263238"/>
                </a:solidFill>
              </a:rPr>
              <a:t>Clear authority; low meeting overhead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731520" y="40690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D7753"/>
                </a:solidFill>
              </a:rPr>
              <a:t>Risk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63040" y="40325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263238"/>
                </a:solidFill>
              </a:rPr>
              <a:t>Can become slow if quarterly boundaries are too broad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1417320" y="489204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016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472184" y="4937760"/>
            <a:ext cx="15819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RECOMMENDED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4389120" y="123444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89120" y="1234440"/>
            <a:ext cx="64008" cy="416052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90288" y="139903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B. Capacity envelopes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90288" y="1801368"/>
            <a:ext cx="3172968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Management allocates capacity by work purpose or selected products; Product Owners order within each envelope.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4617720" y="3337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6A6E"/>
                </a:solidFill>
              </a:rPr>
              <a:t>Strength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49240" y="3300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263238"/>
                </a:solidFill>
              </a:rPr>
              <a:t>Protects UAT, operations and engineering work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4617720" y="40690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D7753"/>
                </a:solidFill>
              </a:rPr>
              <a:t>Risk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49240" y="40325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263238"/>
                </a:solidFill>
              </a:rPr>
              <a:t>Percentages can become rigid entitlements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8275320" y="123444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75320" y="1234440"/>
            <a:ext cx="64008" cy="416052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76488" y="139903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C. Product Owner alignment forum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476488" y="1801368"/>
            <a:ext cx="3172968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Product Owners collectively maintain the near-term queue; unresolved conflicts escalate.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8503920" y="3337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16A6E"/>
                </a:solidFill>
              </a:rPr>
              <a:t>Strength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235440" y="3300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263238"/>
                </a:solidFill>
              </a:rPr>
              <a:t>Strong transparency and shared ownership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8503920" y="40690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D7753"/>
                </a:solidFill>
              </a:rPr>
              <a:t>Risk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235440" y="40325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263238"/>
                </a:solidFill>
              </a:rPr>
              <a:t>Consensus risk and potential duplication of governance</a:t>
            </a:r>
            <a:endParaRPr lang="en-US" sz="84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operating mechanism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BD7753"/>
                </a:solidFill>
              </a:rPr>
              <a:t>One shared Ready Queue, replenished through explicit procedures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47472" y="187452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24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0848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63238"/>
                </a:solidFill>
              </a:rPr>
              <a:t>PRODUCT BACKLOGS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457200" y="25054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475"/>
                </a:solidFill>
              </a:rPr>
              <a:t>POs order value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313432" y="2286000"/>
            <a:ext cx="310896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679192" y="187452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24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88920" y="20848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63238"/>
                </a:solidFill>
              </a:rPr>
              <a:t>READINESS GATE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2788920" y="25054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475"/>
                </a:solidFill>
              </a:rPr>
              <a:t>Definition of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45152" y="2286000"/>
            <a:ext cx="310896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10912" y="187452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1E2DA"/>
          </a:solidFill>
          <a:ln w="1524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20640" y="20848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63238"/>
                </a:solidFill>
              </a:rPr>
              <a:t>REPLENISHMENT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5120640" y="25054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475"/>
                </a:solidFill>
              </a:rPr>
              <a:t>Admit work within capacity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76872" y="2286000"/>
            <a:ext cx="310896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42632" y="187452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16A6E"/>
          </a:solidFill>
          <a:ln w="1524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52360" y="20848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SHARED READY QUEUE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7452360" y="25054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0EE"/>
                </a:solidFill>
              </a:rPr>
              <a:t>Top eligible items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9308592" y="2286000"/>
            <a:ext cx="310896" cy="320040"/>
          </a:xfrm>
          <a:prstGeom prst="chevron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674352" y="187452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24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784080" y="20848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63238"/>
                </a:solidFill>
              </a:rPr>
              <a:t>PULL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9784080" y="25054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475"/>
                </a:solidFill>
              </a:rPr>
              <a:t>Developers pull when WIP allows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31520" y="374904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31520" y="3749040"/>
            <a:ext cx="64008" cy="118872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32688" y="391363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Replenishment Facilitator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32688" y="4315968"/>
            <a:ext cx="29900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7475"/>
                </a:solidFill>
              </a:rPr>
              <a:t>Scrum Master administers the queue and enforces </a:t>
            </a:r>
            <a:r>
              <a:rPr lang="en-US" sz="950">
                <a:solidFill>
                  <a:srgbClr val="667475"/>
                </a:solidFill>
              </a:rPr>
              <a:t>procedures; does not decide business value.</a:t>
            </a:r>
            <a:endParaRPr lang="en-US" sz="950"/>
          </a:p>
        </p:txBody>
      </p:sp>
      <p:sp>
        <p:nvSpPr>
          <p:cNvPr id="28" name="Shape 25"/>
          <p:cNvSpPr/>
          <p:nvPr/>
        </p:nvSpPr>
        <p:spPr>
          <a:xfrm>
            <a:off x="4434840" y="374904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434840" y="3749040"/>
            <a:ext cx="64008" cy="118872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636008" y="391363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Cross-product change rule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636008" y="4315968"/>
            <a:ext cx="29900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Material queue changes require collective agreement or Agile Management Group escalation.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8138160" y="374904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138160" y="3749040"/>
            <a:ext cx="64008" cy="118872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339328" y="391363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Continuity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339328" y="4315968"/>
            <a:ext cx="29900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67475"/>
                </a:solidFill>
              </a:rPr>
              <a:t>Documented procedures, visible decision records and a </a:t>
            </a:r>
            <a:r>
              <a:rPr lang="en-US" sz="950" dirty="0">
                <a:solidFill>
                  <a:srgbClr val="667475"/>
                </a:solidFill>
              </a:rPr>
              <a:t>delivery-side deputy remove key-person dependency.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Product Owners cannot inject work directly; the team should never have to guess what to pull next.</a:t>
            </a:r>
            <a:endParaRPr lang="en-US" sz="11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next item is selected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A policy stack reduces lobbying and constant re-sorting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77240" y="1097280"/>
            <a:ext cx="411480" cy="411480"/>
          </a:xfrm>
          <a:prstGeom prst="ellipse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96112" y="12115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417320" y="11521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A6E"/>
                </a:solidFill>
              </a:rPr>
              <a:t>AUTHORIZED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63240" y="113385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263238"/>
                </a:solidFill>
              </a:rPr>
              <a:t>Belongs to an approved goal or service class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777240" y="1828800"/>
            <a:ext cx="411480" cy="411480"/>
          </a:xfrm>
          <a:prstGeom prst="ellipse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96112" y="194310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417320" y="18836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A6E"/>
                </a:solidFill>
              </a:rPr>
              <a:t>READY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063240" y="186537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63238"/>
                </a:solidFill>
              </a:rPr>
              <a:t>Meets the applicable entry evidence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777240" y="2560320"/>
            <a:ext cx="411480" cy="411480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96112" y="267462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417320" y="26151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A6E"/>
                </a:solidFill>
              </a:rPr>
              <a:t>SERVICE CLASS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063240" y="259689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63238"/>
                </a:solidFill>
              </a:rPr>
              <a:t>Expedite, Fixed Date, Committed, Operational, Enabler or Stretch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777240" y="3291840"/>
            <a:ext cx="411480" cy="411480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96112" y="340614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417320" y="33467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A6E"/>
                </a:solidFill>
              </a:rPr>
              <a:t>CAPACITY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063240" y="332841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63238"/>
                </a:solidFill>
              </a:rPr>
              <a:t>Relevant WIP limit and reserve allow entry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96112" y="413766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417320" y="40782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A6E"/>
                </a:solidFill>
              </a:rPr>
              <a:t>ORDER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063240" y="40599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63238"/>
                </a:solidFill>
              </a:rPr>
              <a:t>Goal contribution, urgency, risk, dependency, size and learning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777240" y="4754880"/>
            <a:ext cx="411480" cy="411480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96112" y="48691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417320" y="48097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6A6E"/>
                </a:solidFill>
              </a:rPr>
              <a:t>DISPLACEMENT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063240" y="479145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63238"/>
                </a:solidFill>
              </a:rPr>
              <a:t>Any injection identifies affected work and forecast impact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8092440" y="5230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D7753"/>
                </a:solidFill>
              </a:rPr>
              <a:t>Tie-breaker only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281160" y="52120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475"/>
                </a:solidFill>
              </a:rPr>
              <a:t>FIFO applies only where items are otherwise equivalent.</a:t>
            </a:r>
            <a:endParaRPr lang="en-US" sz="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Estimation matures with the decision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Estimate coarsely early; forecast empirically as delivery evidence grows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E7F0E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28930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238"/>
                </a:solidFill>
              </a:rPr>
              <a:t>Demand / Candidate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46120" y="126187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16A6E"/>
                </a:solidFill>
              </a:rPr>
              <a:t>XS–XL + uncertainty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903720" y="12618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Discovery need and broad feasibility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1856232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E7F0E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20025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238"/>
                </a:solidFill>
              </a:rPr>
              <a:t>MVP / Quarter Goal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46120" y="19751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16A6E"/>
                </a:solidFill>
              </a:rPr>
              <a:t>Mandatory feature-group sizes + dependencies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903720" y="197510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Quarterly scenario and commitment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2569464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E7F0E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271576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238"/>
                </a:solidFill>
              </a:rPr>
              <a:t>Feature / Enhancement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246120" y="268833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16A6E"/>
                </a:solidFill>
              </a:rPr>
              <a:t>XS–XL + reference feature + value inputs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03720" y="268833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Quarterly fit and trade-offs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82696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342900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238"/>
                </a:solidFill>
              </a:rPr>
              <a:t>User Story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246120" y="34015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16A6E"/>
                </a:solidFill>
              </a:rPr>
              <a:t>Small / Medium / Too Large; points optional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03720" y="340156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Story splitting and Sprint selection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3995928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" y="41422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238"/>
                </a:solidFill>
              </a:rPr>
              <a:t>Technical Task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46120" y="41148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16A6E"/>
                </a:solidFill>
              </a:rPr>
              <a:t>Optional hours or no estimate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903720" y="411480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Immediate coordination only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4709160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5800" y="485546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238"/>
                </a:solidFill>
              </a:rPr>
              <a:t>Delivery System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246120" y="48280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16A6E"/>
                </a:solidFill>
              </a:rPr>
              <a:t>Throughput + cycle-time distributions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903720" y="48280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Probabilistic future forecasts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Estimate informs forecast; forecast informs commitment; an estimate is never a commitment.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16A6E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Capacity is planned by work classes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The team cannot assume 100% of capacity is available for new feature development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31520" y="1508760"/>
            <a:ext cx="7488936" cy="685800"/>
          </a:xfrm>
          <a:prstGeom prst="rect">
            <a:avLst/>
          </a:prstGeom>
          <a:solidFill>
            <a:srgbClr val="016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709928"/>
            <a:ext cx="7397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70%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0456" y="1508760"/>
            <a:ext cx="2139696" cy="685800"/>
          </a:xfrm>
          <a:prstGeom prst="rect">
            <a:avLst/>
          </a:prstGeom>
          <a:solidFill>
            <a:srgbClr val="BD77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66176" y="17099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360152" y="1508760"/>
            <a:ext cx="1069848" cy="685800"/>
          </a:xfrm>
          <a:prstGeom prst="rect">
            <a:avLst/>
          </a:prstGeom>
          <a:solidFill>
            <a:srgbClr val="D49A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405872" y="1709928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2423160"/>
            <a:ext cx="201168" cy="201168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15568" y="243230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63238"/>
                </a:solidFill>
              </a:rPr>
              <a:t>Planned MVP / features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4480560" y="2423160"/>
            <a:ext cx="201168" cy="201168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73168" y="243230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63238"/>
                </a:solidFill>
              </a:rPr>
              <a:t>UAT &amp; release support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8138160" y="2423160"/>
            <a:ext cx="201168" cy="201168"/>
          </a:xfrm>
          <a:prstGeom prst="rect">
            <a:avLst/>
          </a:prstGeom>
          <a:solidFill>
            <a:srgbClr val="D49A53"/>
          </a:solidFill>
          <a:ln w="127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430768" y="243230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63238"/>
                </a:solidFill>
              </a:rPr>
              <a:t>Operations / urgent work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731520" y="31546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7F0E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1520" y="3154680"/>
            <a:ext cx="64008" cy="141732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32688" y="331927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Option 1: Work-type envelopes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2688" y="3721608"/>
            <a:ext cx="29443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Protect operations, UAT and engineering enablement. Rebalance quarterly using actual consumption.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4434840" y="31546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434840" y="3154680"/>
            <a:ext cx="64008" cy="141732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36008" y="331927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Option 2: Temporary product envelopes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636008" y="3721608"/>
            <a:ext cx="29443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Use only when two major products must progress concurrently and both have sufficient ready work.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8138160" y="31546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138160" y="3154680"/>
            <a:ext cx="64008" cy="1417320"/>
          </a:xfrm>
          <a:prstGeom prst="rect">
            <a:avLst/>
          </a:prstGeom>
          <a:solidFill>
            <a:srgbClr val="B65D57"/>
          </a:solidFill>
          <a:ln w="12700">
            <a:solidFill>
              <a:srgbClr val="B65D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339328" y="331927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Avoid permanent PO quotas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339328" y="3721608"/>
            <a:ext cx="29443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Permanent percentages create silos, idle capacity and political entitlement.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822960" y="50840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D7753"/>
                </a:solidFill>
              </a:rPr>
              <a:t>Decision required: approve the pilot capacity hypothesis and whether engineering enablement receives an explicit reserve.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planning sets boundaries; Sprints adapt the route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The quarter is outcome-led, while detailed stories emerge progressively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4008" cy="1481328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9808" y="139903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QUARTERLY PLAN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1801368"/>
            <a:ext cx="308152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Goal, mandatory features, capacity, controls and production target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041648" y="1801368"/>
            <a:ext cx="256032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89120" y="123444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89120" y="1234440"/>
            <a:ext cx="64008" cy="1481328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90288" y="139903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FEATURE REFINEMENT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90288" y="1801368"/>
            <a:ext cx="308152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Break features into testable slices; confirm routes and dependencies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7882128" y="1801368"/>
            <a:ext cx="256032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229600" y="123444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F1E2DA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29600" y="1234440"/>
            <a:ext cx="64008" cy="1481328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30768" y="139903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BACKLOG REPLENISHMENT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30768" y="1801368"/>
            <a:ext cx="308152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Admit ready work into one ordered team queue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 rot="5400000">
            <a:off x="9738360" y="2834640"/>
            <a:ext cx="411480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333756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E7F0E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8640" y="3337560"/>
            <a:ext cx="64008" cy="1481328"/>
          </a:xfrm>
          <a:prstGeom prst="rect">
            <a:avLst/>
          </a:prstGeom>
          <a:solidFill>
            <a:srgbClr val="2E8B8E"/>
          </a:solidFill>
          <a:ln w="12700">
            <a:solidFill>
              <a:srgbClr val="2E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49808" y="35021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SPRINT PLANNING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9808" y="3904488"/>
            <a:ext cx="308152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Set one primary Sprint Goal and select conservative work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4041648" y="3904488"/>
            <a:ext cx="256032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389120" y="333756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389120" y="3337560"/>
            <a:ext cx="64008" cy="1481328"/>
          </a:xfrm>
          <a:prstGeom prst="rect">
            <a:avLst/>
          </a:prstGeom>
          <a:solidFill>
            <a:srgbClr val="D49A53"/>
          </a:solidFill>
          <a:ln w="127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90288" y="35021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SPRINT EXECUTION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90288" y="3904488"/>
            <a:ext cx="308152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Pull, limit WIP, review aging and unblock flow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7882128" y="3904488"/>
            <a:ext cx="256032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229600" y="333756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37560"/>
            <a:ext cx="64008" cy="1481328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430768" y="35021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SPRINT REVIEW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430768" y="3904488"/>
            <a:ext cx="308152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Validate increment; feedback returns to ordered backlog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New ceremony to add: Backlog Replenishment before Sprint Planning or on a weekly cadence.</a:t>
            </a:r>
            <a:endParaRPr lang="en-US" sz="11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cadence and ceremonies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Every event has a distinct decision purpose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5074920" cy="758952"/>
          </a:xfrm>
          <a:prstGeom prst="roundRect">
            <a:avLst>
              <a:gd name="adj" fmla="val 6024"/>
            </a:avLst>
          </a:prstGeom>
          <a:solidFill>
            <a:srgbClr val="E7F0E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" y="12893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6A6E"/>
                </a:solidFill>
              </a:rPr>
              <a:t>Quarterly Planning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468880" y="12527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238"/>
                </a:solidFill>
              </a:rPr>
              <a:t>Approve goals, classifications, capacity and control windows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5074920" cy="758952"/>
          </a:xfrm>
          <a:prstGeom prst="roundRect">
            <a:avLst>
              <a:gd name="adj" fmla="val 6024"/>
            </a:avLst>
          </a:prstGeom>
          <a:solidFill>
            <a:srgbClr val="F1E2DA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23408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D7753"/>
                </a:solidFill>
              </a:rPr>
              <a:t>Backlog Replenishment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68880" y="23042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238"/>
                </a:solidFill>
              </a:rPr>
              <a:t>Keep the shared Ready Queue ordered and within WIP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507492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4672" y="33924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6A6E"/>
                </a:solidFill>
              </a:rPr>
              <a:t>Sprint Planning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468880" y="33558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238"/>
                </a:solidFill>
              </a:rPr>
              <a:t>Set Sprint Goal and select feasible ready work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0080" y="4297680"/>
            <a:ext cx="507492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4672" y="44439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6A6E"/>
                </a:solidFill>
              </a:rPr>
              <a:t>Daily Flow Review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468880" y="44074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238"/>
                </a:solidFill>
              </a:rPr>
              <a:t>Focus on completion, aging, blockers and WIP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63640" y="1143000"/>
            <a:ext cx="507492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28232" y="12893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6A6E"/>
                </a:solidFill>
              </a:rPr>
              <a:t>Refinement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092440" y="12527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238"/>
                </a:solidFill>
              </a:rPr>
              <a:t>Prepare the next ready backlog slice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263640" y="2194560"/>
            <a:ext cx="507492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28232" y="23408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6A6E"/>
                </a:solidFill>
              </a:rPr>
              <a:t>Sprint Review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092440" y="23042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238"/>
                </a:solidFill>
              </a:rPr>
              <a:t>Inspect working software and order feedback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63640" y="3246120"/>
            <a:ext cx="507492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28232" y="33924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6A6E"/>
                </a:solidFill>
              </a:rPr>
              <a:t>Retrospective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092440" y="33558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238"/>
                </a:solidFill>
              </a:rPr>
              <a:t>Commit to one or two system improvements</a:t>
            </a:r>
            <a:endParaRPr lang="en-US" sz="8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workflow and control gates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Controls are integrated throughout the flow, not applied only at the end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228600" y="1874520"/>
            <a:ext cx="1536192" cy="658368"/>
          </a:xfrm>
          <a:prstGeom prst="chevron">
            <a:avLst/>
          </a:prstGeom>
          <a:solidFill>
            <a:srgbClr val="E4E5E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56616" y="20756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63238"/>
                </a:solidFill>
              </a:rPr>
              <a:t>Ready</a:t>
            </a:r>
            <a:endParaRPr lang="en-US" sz="780" dirty="0"/>
          </a:p>
        </p:txBody>
      </p:sp>
      <p:sp>
        <p:nvSpPr>
          <p:cNvPr id="7" name="Shape 4"/>
          <p:cNvSpPr/>
          <p:nvPr/>
        </p:nvSpPr>
        <p:spPr>
          <a:xfrm>
            <a:off x="1709928" y="1874520"/>
            <a:ext cx="1536192" cy="658368"/>
          </a:xfrm>
          <a:prstGeom prst="chevron">
            <a:avLst/>
          </a:prstGeom>
          <a:solidFill>
            <a:srgbClr val="016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37944" y="20756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Active Dev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191256" y="1874520"/>
            <a:ext cx="1536192" cy="658368"/>
          </a:xfrm>
          <a:prstGeom prst="chevron">
            <a:avLst/>
          </a:prstGeom>
          <a:solidFill>
            <a:srgbClr val="2E8B8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19272" y="20756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Code Review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4672584" y="1874520"/>
            <a:ext cx="1536192" cy="658368"/>
          </a:xfrm>
          <a:prstGeom prst="chevron">
            <a:avLst/>
          </a:prstGeom>
          <a:solidFill>
            <a:srgbClr val="6C9A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20756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Technical Test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6153912" y="1874520"/>
            <a:ext cx="1536192" cy="658368"/>
          </a:xfrm>
          <a:prstGeom prst="chevron">
            <a:avLst/>
          </a:prstGeom>
          <a:solidFill>
            <a:srgbClr val="BD77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81928" y="20756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PO Validation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7635240" y="1874520"/>
            <a:ext cx="1536192" cy="658368"/>
          </a:xfrm>
          <a:prstGeom prst="chevron">
            <a:avLst/>
          </a:prstGeom>
          <a:solidFill>
            <a:srgbClr val="D49A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63256" y="20756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Feature / UAT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9116568" y="1874520"/>
            <a:ext cx="1536192" cy="658368"/>
          </a:xfrm>
          <a:prstGeom prst="chevron">
            <a:avLst/>
          </a:prstGeom>
          <a:solidFill>
            <a:srgbClr val="123C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244584" y="20756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Release Ready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10597896" y="1874520"/>
            <a:ext cx="1536192" cy="658368"/>
          </a:xfrm>
          <a:prstGeom prst="chevron">
            <a:avLst/>
          </a:prstGeom>
          <a:solidFill>
            <a:srgbClr val="016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725912" y="20756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Live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594360" y="2743200"/>
            <a:ext cx="1" cy="411480"/>
          </a:xfrm>
          <a:prstGeom prst="line">
            <a:avLst/>
          </a:prstGeom>
          <a:noFill/>
          <a:ln w="1778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" y="32461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BD7753"/>
                </a:solidFill>
              </a:rPr>
              <a:t>Story Ready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0" y="3502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Entry evidence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2468880" y="2743200"/>
            <a:ext cx="1" cy="411480"/>
          </a:xfrm>
          <a:prstGeom prst="line">
            <a:avLst/>
          </a:prstGeom>
          <a:noFill/>
          <a:ln w="1778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965960" y="32461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BD7753"/>
                </a:solidFill>
              </a:rPr>
              <a:t>Maker-checker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1874520" y="3502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Code quality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43400" y="2743200"/>
            <a:ext cx="1" cy="411480"/>
          </a:xfrm>
          <a:prstGeom prst="line">
            <a:avLst/>
          </a:prstGeom>
          <a:noFill/>
          <a:ln w="1778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840480" y="32461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BD7753"/>
                </a:solidFill>
              </a:rPr>
              <a:t>Story Accepted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3749040" y="3502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Business behaviour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6217920" y="2743200"/>
            <a:ext cx="1" cy="411480"/>
          </a:xfrm>
          <a:prstGeom prst="line">
            <a:avLst/>
          </a:prstGeom>
          <a:noFill/>
          <a:ln w="1778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715000" y="32461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BD7753"/>
                </a:solidFill>
              </a:rPr>
              <a:t>UAT Accepted</a:t>
            </a:r>
            <a:endParaRPr lang="en-US" sz="760" dirty="0"/>
          </a:p>
        </p:txBody>
      </p:sp>
      <p:sp>
        <p:nvSpPr>
          <p:cNvPr id="32" name="Text 29"/>
          <p:cNvSpPr/>
          <p:nvPr/>
        </p:nvSpPr>
        <p:spPr>
          <a:xfrm>
            <a:off x="5623560" y="3502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End-to-end evidence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8092440" y="2743200"/>
            <a:ext cx="1" cy="411480"/>
          </a:xfrm>
          <a:prstGeom prst="line">
            <a:avLst/>
          </a:prstGeom>
          <a:noFill/>
          <a:ln w="1778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589520" y="32461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BD7753"/>
                </a:solidFill>
              </a:rPr>
              <a:t>Release Ready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7498080" y="3502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Controls + rollback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9966960" y="2743200"/>
            <a:ext cx="1" cy="411480"/>
          </a:xfrm>
          <a:prstGeom prst="line">
            <a:avLst/>
          </a:prstGeom>
          <a:noFill/>
          <a:ln w="1778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464040" y="32461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BD7753"/>
                </a:solidFill>
              </a:rPr>
              <a:t>MVP Live</a:t>
            </a:r>
            <a:endParaRPr lang="en-US" sz="760" dirty="0"/>
          </a:p>
        </p:txBody>
      </p:sp>
      <p:sp>
        <p:nvSpPr>
          <p:cNvPr id="38" name="Text 35"/>
          <p:cNvSpPr/>
          <p:nvPr/>
        </p:nvSpPr>
        <p:spPr>
          <a:xfrm>
            <a:off x="9372600" y="3502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67475"/>
                </a:solidFill>
              </a:rPr>
              <a:t>Production validation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640080" y="425196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40080" y="4251960"/>
            <a:ext cx="64008" cy="96012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41248" y="441655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Route A: Independently testable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841248" y="4818888"/>
            <a:ext cx="303580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Story-level PO and tester validation; feature and release regression.</a:t>
            </a: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4407408" y="425196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407408" y="4251960"/>
            <a:ext cx="64008" cy="96012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608576" y="441655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Route B: Connected story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4608576" y="4818888"/>
            <a:ext cx="303580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Full validation when connected stories form a usable feature.</a:t>
            </a:r>
            <a:endParaRPr lang="en-US" sz="960" dirty="0"/>
          </a:p>
        </p:txBody>
      </p:sp>
      <p:sp>
        <p:nvSpPr>
          <p:cNvPr id="47" name="Shape 44"/>
          <p:cNvSpPr/>
          <p:nvPr/>
        </p:nvSpPr>
        <p:spPr>
          <a:xfrm>
            <a:off x="8174736" y="425196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8174736" y="4251960"/>
            <a:ext cx="64008" cy="96012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375904" y="441655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Route C: Technical enabler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8375904" y="4818888"/>
            <a:ext cx="303580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Technical acceptance, then consuming-feature and release assurance.</a:t>
            </a:r>
            <a:endParaRPr lang="en-US" sz="96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Non-MVP work is controlled through service classes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Urgent and operational work remains visible and consumes real capacity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43000"/>
            <a:ext cx="5394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240">
            <a:solidFill>
              <a:srgbClr val="B65D57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1143000"/>
            <a:ext cx="1389888" cy="1188720"/>
          </a:xfrm>
          <a:prstGeom prst="rect">
            <a:avLst/>
          </a:prstGeom>
          <a:solidFill>
            <a:srgbClr val="B65D57"/>
          </a:solidFill>
          <a:ln w="12700">
            <a:solidFill>
              <a:srgbClr val="B65D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53619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EXPEDITE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103120" y="1325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Critical outage, material security/data issue or blocker to committed release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2103120" y="18013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16A6E"/>
                </a:solidFill>
              </a:rPr>
              <a:t>Global WIP limit: 1; show displaced work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6309360" y="1143000"/>
            <a:ext cx="5394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240">
            <a:solidFill>
              <a:srgbClr val="D49A5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09360" y="1143000"/>
            <a:ext cx="1389888" cy="1188720"/>
          </a:xfrm>
          <a:prstGeom prst="rect">
            <a:avLst/>
          </a:prstGeom>
          <a:solidFill>
            <a:srgbClr val="D49A53"/>
          </a:solidFill>
          <a:ln w="127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153619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FIXED DATE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909560" y="1325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Regulatory or immovable operational date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7909560" y="18013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16A6E"/>
                </a:solidFill>
              </a:rPr>
              <a:t>Sequence by latest responsible start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502920" y="2651760"/>
            <a:ext cx="5394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240">
            <a:solidFill>
              <a:srgbClr val="BD775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02920" y="2651760"/>
            <a:ext cx="1389888" cy="118872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4360" y="30449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OPERATIONAL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10312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Support and defects for products the team operates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2103120" y="33101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16A6E"/>
                </a:solidFill>
              </a:rPr>
              <a:t>Reserve capacity; triage by severity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6309360" y="2651760"/>
            <a:ext cx="5394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240">
            <a:solidFill>
              <a:srgbClr val="6C9A8B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09360" y="2651760"/>
            <a:ext cx="1389888" cy="118872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0" y="30449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 ENABLER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0956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Infrastructure, CI/CD, licensing, automation and engineering controls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7909560" y="33101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16A6E"/>
                </a:solidFill>
              </a:rPr>
              <a:t>Plan explicit capacity; do not treat as spare-time work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502920" y="4160520"/>
            <a:ext cx="5394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240">
            <a:solidFill>
              <a:srgbClr val="016A6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2920" y="4160520"/>
            <a:ext cx="1389888" cy="118872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94360" y="455371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STANDARD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103120" y="4343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Normal enhancements, defects and routine technical work</a:t>
            </a:r>
            <a:endParaRPr lang="en-US" sz="860" dirty="0"/>
          </a:p>
        </p:txBody>
      </p:sp>
      <p:sp>
        <p:nvSpPr>
          <p:cNvPr id="29" name="Text 26"/>
          <p:cNvSpPr/>
          <p:nvPr/>
        </p:nvSpPr>
        <p:spPr>
          <a:xfrm>
            <a:off x="2103120" y="4818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16A6E"/>
                </a:solidFill>
              </a:rPr>
              <a:t>Pull from the ordered Ready Queue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309360" y="4160520"/>
            <a:ext cx="5394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240">
            <a:solidFill>
              <a:srgbClr val="2E8B8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309360" y="4160520"/>
            <a:ext cx="1389888" cy="1188720"/>
          </a:xfrm>
          <a:prstGeom prst="rect">
            <a:avLst/>
          </a:prstGeom>
          <a:solidFill>
            <a:srgbClr val="2E8B8E"/>
          </a:solidFill>
          <a:ln w="12700">
            <a:solidFill>
              <a:srgbClr val="2E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400800" y="455371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SPIKE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909560" y="4343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Reduce a material unknown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7909560" y="4818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16A6E"/>
                </a:solidFill>
              </a:rPr>
              <a:t>Time-boxed question, evidence and decision</a:t>
            </a:r>
            <a:endParaRPr lang="en-US" sz="8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Accountability remains clear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No single gatekeeper owns all business priorities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1E2DA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64008" cy="160020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4088" y="126187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Agile Management Group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1664208"/>
            <a:ext cx="312724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Cross-product priorities, quarterly commitments and material displacement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389120" y="109728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89120" y="1097280"/>
            <a:ext cx="64008" cy="160020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90288" y="126187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Product Sponsor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90288" y="1664208"/>
            <a:ext cx="312724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Business outcome, sponsorship and senior business decisions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8275320" y="109728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275320" y="1097280"/>
            <a:ext cx="64008" cy="160020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76488" y="126187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Product Owner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476488" y="1664208"/>
            <a:ext cx="312724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Product backlog order, expected behaviour and acceptance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502920" y="315468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2920" y="3154680"/>
            <a:ext cx="64008" cy="1600200"/>
          </a:xfrm>
          <a:prstGeom prst="rect">
            <a:avLst/>
          </a:prstGeom>
          <a:solidFill>
            <a:srgbClr val="2E8B8E"/>
          </a:solidFill>
          <a:ln w="12700">
            <a:solidFill>
              <a:srgbClr val="2E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04088" y="331927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Scrum Master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4088" y="3721608"/>
            <a:ext cx="312724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Flow steward, replenishment facilitator and policy enforcement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4389120" y="315468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389120" y="3154680"/>
            <a:ext cx="64008" cy="1600200"/>
          </a:xfrm>
          <a:prstGeom prst="rect">
            <a:avLst/>
          </a:prstGeom>
          <a:solidFill>
            <a:srgbClr val="D49A53"/>
          </a:solidFill>
          <a:ln w="127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90288" y="331927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Development Team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90288" y="3721608"/>
            <a:ext cx="312724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Sizing, technical sequence, execution, quality and supportability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8275320" y="315468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75320" y="3154680"/>
            <a:ext cx="64008" cy="160020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476488" y="331927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Shared Functions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76488" y="3721608"/>
            <a:ext cx="312724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Applicability, lead times, reviews, approvals and enabling services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Queue administration is a process role; business priority remains with the appropriate Product Owner or portfolio authority.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view: outcomes, reliability and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Measures improve the system; they do not rank individuals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4360" y="1325880"/>
            <a:ext cx="2468880" cy="3611880"/>
          </a:xfrm>
          <a:prstGeom prst="roundRect">
            <a:avLst>
              <a:gd name="adj" fmla="val 2222"/>
            </a:avLst>
          </a:prstGeom>
          <a:solidFill>
            <a:srgbClr val="E7F0EF"/>
          </a:solidFill>
          <a:ln w="12700">
            <a:solidFill>
              <a:srgbClr val="016A6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572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6A6E"/>
                </a:solidFill>
              </a:rPr>
              <a:t>OUTCOMES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14400" y="2148840"/>
            <a:ext cx="182880" cy="1"/>
          </a:xfrm>
          <a:prstGeom prst="line">
            <a:avLst/>
          </a:prstGeom>
          <a:noFill/>
          <a:ln w="254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16152" y="2039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MVP milestone reliability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914400" y="2770632"/>
            <a:ext cx="182880" cy="1"/>
          </a:xfrm>
          <a:prstGeom prst="line">
            <a:avLst/>
          </a:prstGeom>
          <a:noFill/>
          <a:ln w="254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16152" y="2660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Adoption and turnaround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914400" y="3392424"/>
            <a:ext cx="182880" cy="1"/>
          </a:xfrm>
          <a:prstGeom prst="line">
            <a:avLst/>
          </a:prstGeom>
          <a:noFill/>
          <a:ln w="254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16152" y="3282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Benefit realization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3429000" y="1325880"/>
            <a:ext cx="2468880" cy="3611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11880" y="1572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D7753"/>
                </a:solidFill>
              </a:rPr>
              <a:t>PREDICTABILITY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49040" y="2148840"/>
            <a:ext cx="182880" cy="1"/>
          </a:xfrm>
          <a:prstGeom prst="line">
            <a:avLst/>
          </a:prstGeom>
          <a:noFill/>
          <a:ln w="254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50792" y="2039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Committed feature delivery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749040" y="2770632"/>
            <a:ext cx="182880" cy="1"/>
          </a:xfrm>
          <a:prstGeom prst="line">
            <a:avLst/>
          </a:prstGeom>
          <a:noFill/>
          <a:ln w="254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050792" y="2660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Sprint Goal achievement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3749040" y="3392424"/>
            <a:ext cx="182880" cy="1"/>
          </a:xfrm>
          <a:prstGeom prst="line">
            <a:avLst/>
          </a:prstGeom>
          <a:noFill/>
          <a:ln w="254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050792" y="3282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Forecast range vs actual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6263640" y="1325880"/>
            <a:ext cx="2468880" cy="3611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46520" y="1572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9A8B"/>
                </a:solidFill>
              </a:rPr>
              <a:t>FLOW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83680" y="2148840"/>
            <a:ext cx="182880" cy="1"/>
          </a:xfrm>
          <a:prstGeom prst="line">
            <a:avLst/>
          </a:prstGeom>
          <a:noFill/>
          <a:ln w="254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85432" y="2039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Throughput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6583680" y="2770632"/>
            <a:ext cx="182880" cy="1"/>
          </a:xfrm>
          <a:prstGeom prst="line">
            <a:avLst/>
          </a:prstGeom>
          <a:noFill/>
          <a:ln w="254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85432" y="2660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Cycle time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583680" y="3392424"/>
            <a:ext cx="182880" cy="1"/>
          </a:xfrm>
          <a:prstGeom prst="line">
            <a:avLst/>
          </a:prstGeom>
          <a:noFill/>
          <a:ln w="254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885432" y="3282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Work-item age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6583680" y="4014216"/>
            <a:ext cx="182880" cy="1"/>
          </a:xfrm>
          <a:prstGeom prst="line">
            <a:avLst/>
          </a:prstGeom>
          <a:noFill/>
          <a:ln w="254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885432" y="3904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Blocked-time ratio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9098280" y="1325880"/>
            <a:ext cx="2468880" cy="3611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281160" y="1572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9A53"/>
                </a:solidFill>
              </a:rPr>
              <a:t>QUALITY &amp; CAPACITY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418320" y="2148840"/>
            <a:ext cx="182880" cy="1"/>
          </a:xfrm>
          <a:prstGeom prst="line">
            <a:avLst/>
          </a:prstGeom>
          <a:noFill/>
          <a:ln w="254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720072" y="2039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UAT leakage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9418320" y="2770632"/>
            <a:ext cx="182880" cy="1"/>
          </a:xfrm>
          <a:prstGeom prst="line">
            <a:avLst/>
          </a:prstGeom>
          <a:noFill/>
          <a:ln w="254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720072" y="2660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Escaped defects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9418320" y="3392424"/>
            <a:ext cx="182880" cy="1"/>
          </a:xfrm>
          <a:prstGeom prst="line">
            <a:avLst/>
          </a:prstGeom>
          <a:noFill/>
          <a:ln w="254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9720072" y="3282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Operational consumption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9418320" y="4014216"/>
            <a:ext cx="182880" cy="1"/>
          </a:xfrm>
          <a:prstGeom prst="line">
            <a:avLst/>
          </a:prstGeom>
          <a:noFill/>
          <a:ln w="25400">
            <a:solidFill>
              <a:srgbClr val="D49A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9720072" y="3904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63238"/>
                </a:solidFill>
              </a:rPr>
              <a:t>UAT consumption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Prohibited management measures: individual velocity, lines of code and AI prompt counts.</a:t>
            </a:r>
            <a:endParaRPr lang="en-US" sz="115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before institutionalizing the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Use one representative product to test the operating system and close open decisions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20040" y="1417320"/>
            <a:ext cx="640080" cy="640080"/>
          </a:xfrm>
          <a:prstGeom prst="ellipse">
            <a:avLst/>
          </a:prstGeom>
          <a:solidFill>
            <a:srgbClr val="016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0352" y="16367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37160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3238"/>
                </a:solidFill>
              </a:rPr>
              <a:t>Framework alignment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033272" y="1572768"/>
            <a:ext cx="822960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02536" y="1417320"/>
            <a:ext cx="640080" cy="640080"/>
          </a:xfrm>
          <a:prstGeom prst="ellipse">
            <a:avLst/>
          </a:prstGeom>
          <a:solidFill>
            <a:srgbClr val="016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12848" y="16367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819656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3238"/>
                </a:solidFill>
              </a:rPr>
              <a:t>Pilot selection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715768" y="1572768"/>
            <a:ext cx="822960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85032" y="1417320"/>
            <a:ext cx="640080" cy="640080"/>
          </a:xfrm>
          <a:prstGeom prst="ellipse">
            <a:avLst/>
          </a:prstGeom>
          <a:solidFill>
            <a:srgbClr val="016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95344" y="16367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502152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3238"/>
                </a:solidFill>
              </a:rPr>
              <a:t>Candidate discovery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398264" y="1572768"/>
            <a:ext cx="822960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367528" y="1417320"/>
            <a:ext cx="640080" cy="640080"/>
          </a:xfrm>
          <a:prstGeom prst="ellipse">
            <a:avLst/>
          </a:prstGeom>
          <a:solidFill>
            <a:srgbClr val="016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77840" y="16367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184648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3238"/>
                </a:solidFill>
              </a:rPr>
              <a:t>Engineering readiness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080760" y="1572768"/>
            <a:ext cx="822960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050024" y="1417320"/>
            <a:ext cx="640080" cy="640080"/>
          </a:xfrm>
          <a:prstGeom prst="ellipse">
            <a:avLst/>
          </a:prstGeom>
          <a:solidFill>
            <a:srgbClr val="BD77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0336" y="16367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867144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3238"/>
                </a:solidFill>
              </a:rPr>
              <a:t>Stakeholder buy-in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63256" y="1572768"/>
            <a:ext cx="822960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732520" y="1417320"/>
            <a:ext cx="640080" cy="640080"/>
          </a:xfrm>
          <a:prstGeom prst="ellipse">
            <a:avLst/>
          </a:prstGeom>
          <a:solidFill>
            <a:srgbClr val="BD77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942832" y="16367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549640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3238"/>
                </a:solidFill>
              </a:rPr>
              <a:t>Pilot execution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445752" y="1572768"/>
            <a:ext cx="822960" cy="320040"/>
          </a:xfrm>
          <a:prstGeom prst="chevron">
            <a:avLst/>
          </a:prstGeom>
          <a:solidFill>
            <a:srgbClr val="D1D6D4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415016" y="1417320"/>
            <a:ext cx="640080" cy="640080"/>
          </a:xfrm>
          <a:prstGeom prst="ellipse">
            <a:avLst/>
          </a:prstGeom>
          <a:solidFill>
            <a:srgbClr val="6C9A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625328" y="16367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232136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3238"/>
                </a:solidFill>
              </a:rPr>
              <a:t>Framework approval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31520" y="30632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E7F0E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31520" y="3063240"/>
            <a:ext cx="64008" cy="1645920"/>
          </a:xfrm>
          <a:prstGeom prst="rect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32688" y="322783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Pilot evidence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32688" y="3630168"/>
            <a:ext cx="303580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Flow, quality, participation, controls, actual support demand and delivery reliability.</a:t>
            </a:r>
            <a:endParaRPr lang="en-US" sz="960" dirty="0"/>
          </a:p>
        </p:txBody>
      </p:sp>
      <p:sp>
        <p:nvSpPr>
          <p:cNvPr id="36" name="Shape 33"/>
          <p:cNvSpPr/>
          <p:nvPr/>
        </p:nvSpPr>
        <p:spPr>
          <a:xfrm>
            <a:off x="4389120" y="30632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389120" y="3063240"/>
            <a:ext cx="64008" cy="1645920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590288" y="322783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Decisions closed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590288" y="3630168"/>
            <a:ext cx="303580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Queue policy, capacity reserves, service classes, tooling, CI/CD, test evidence and release route.</a:t>
            </a:r>
            <a:endParaRPr lang="en-US" sz="960" dirty="0"/>
          </a:p>
        </p:txBody>
      </p:sp>
      <p:sp>
        <p:nvSpPr>
          <p:cNvPr id="40" name="Shape 37"/>
          <p:cNvSpPr/>
          <p:nvPr/>
        </p:nvSpPr>
        <p:spPr>
          <a:xfrm>
            <a:off x="8046720" y="30632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0E4E2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046720" y="3063240"/>
            <a:ext cx="64008" cy="1645920"/>
          </a:xfrm>
          <a:prstGeom prst="rect">
            <a:avLst/>
          </a:prstGeom>
          <a:solidFill>
            <a:srgbClr val="6C9A8B"/>
          </a:solidFill>
          <a:ln w="12700">
            <a:solidFill>
              <a:srgbClr val="6C9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247888" y="322783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Scale trigger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247888" y="3630168"/>
            <a:ext cx="303580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667475"/>
                </a:solidFill>
              </a:rPr>
              <a:t>Reassess team structure only when multiple stable product-aligned teams and recurring cross-team dependencies exist.</a:t>
            </a:r>
            <a:endParaRPr lang="en-US" sz="960" dirty="0"/>
          </a:p>
        </p:txBody>
      </p:sp>
      <p:sp>
        <p:nvSpPr>
          <p:cNvPr id="44" name="Shape 41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The pilot validates the operating model; it is not only a product delivery trial.</a:t>
            </a:r>
            <a:endParaRPr lang="en-US" sz="11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6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decisions requested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7753"/>
                </a:solidFill>
              </a:rPr>
              <a:t>Approve the model direction and authorize the pilot to resolve detailed operating choices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4360" y="114300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E7F0EF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58952" y="1399032"/>
            <a:ext cx="438912" cy="438912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1536192"/>
            <a:ext cx="155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371600" y="13258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16A6E"/>
                </a:solidFill>
              </a:rPr>
              <a:t>Operating model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2743200" y="128930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3238"/>
                </a:solidFill>
              </a:rPr>
              <a:t>Adopt Scrumban with DevOps ownership and OHB-specific governance.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6217920" y="114300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E7F0EF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82512" y="1399032"/>
            <a:ext cx="438912" cy="438912"/>
          </a:xfrm>
          <a:prstGeom prst="ellipse">
            <a:avLst/>
          </a:prstGeom>
          <a:solidFill>
            <a:srgbClr val="016A6E"/>
          </a:solidFill>
          <a:ln w="12700">
            <a:solidFill>
              <a:srgbClr val="016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19672" y="1536192"/>
            <a:ext cx="155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995160" y="13258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16A6E"/>
                </a:solidFill>
              </a:rPr>
              <a:t>Roadmap language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8366760" y="128930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3238"/>
                </a:solidFill>
              </a:rPr>
              <a:t>Choose Committed / Stretch / Pipeline or retain Committed / Forecast / Candidate.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594360" y="256032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58952" y="2816352"/>
            <a:ext cx="438912" cy="438912"/>
          </a:xfrm>
          <a:prstGeom prst="ellipse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96112" y="2953512"/>
            <a:ext cx="155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371600" y="27432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16A6E"/>
                </a:solidFill>
              </a:rPr>
              <a:t>Prioritization model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2743200" y="270662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3238"/>
                </a:solidFill>
              </a:rPr>
              <a:t>Approve executive quarterly ordering + weekly replenishment as the baseline.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6217920" y="256032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82512" y="2816352"/>
            <a:ext cx="438912" cy="438912"/>
          </a:xfrm>
          <a:prstGeom prst="ellipse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19672" y="2953512"/>
            <a:ext cx="155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995160" y="27432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16A6E"/>
                </a:solidFill>
              </a:rPr>
              <a:t>Capacity policy</a:t>
            </a:r>
            <a:endParaRPr lang="en-US" sz="1030" dirty="0"/>
          </a:p>
        </p:txBody>
      </p:sp>
      <p:sp>
        <p:nvSpPr>
          <p:cNvPr id="24" name="Text 21"/>
          <p:cNvSpPr/>
          <p:nvPr/>
        </p:nvSpPr>
        <p:spPr>
          <a:xfrm>
            <a:off x="8366760" y="270662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3238"/>
                </a:solidFill>
              </a:rPr>
              <a:t>Approve pilot reserves and decide whether engineering enablement has an explicit envelope.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594360" y="397764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58952" y="4233672"/>
            <a:ext cx="438912" cy="438912"/>
          </a:xfrm>
          <a:prstGeom prst="ellipse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6112" y="4370832"/>
            <a:ext cx="155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371600" y="41605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16A6E"/>
                </a:solidFill>
              </a:rPr>
              <a:t>Queue governance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2743200" y="412394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3238"/>
                </a:solidFill>
              </a:rPr>
              <a:t>Approve one shared Ready Queue, neutral facilitator and cross-product change rule.</a:t>
            </a:r>
            <a:endParaRPr lang="en-US" sz="870" dirty="0"/>
          </a:p>
        </p:txBody>
      </p:sp>
      <p:sp>
        <p:nvSpPr>
          <p:cNvPr id="30" name="Shape 27"/>
          <p:cNvSpPr/>
          <p:nvPr/>
        </p:nvSpPr>
        <p:spPr>
          <a:xfrm>
            <a:off x="6217920" y="397764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382512" y="4233672"/>
            <a:ext cx="438912" cy="438912"/>
          </a:xfrm>
          <a:prstGeom prst="ellipse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519672" y="4370832"/>
            <a:ext cx="155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995160" y="41605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16A6E"/>
                </a:solidFill>
              </a:rPr>
              <a:t>Pilot</a:t>
            </a:r>
            <a:endParaRPr lang="en-US" sz="1030" dirty="0"/>
          </a:p>
        </p:txBody>
      </p:sp>
      <p:sp>
        <p:nvSpPr>
          <p:cNvPr id="34" name="Text 31"/>
          <p:cNvSpPr/>
          <p:nvPr/>
        </p:nvSpPr>
        <p:spPr>
          <a:xfrm>
            <a:off x="8366760" y="412394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63238"/>
                </a:solidFill>
              </a:rPr>
              <a:t>Authorize Sprint 0 and one controlled representative product pilot.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123C40"/>
          </a:solidFill>
          <a:ln w="12700">
            <a:solidFill>
              <a:srgbClr val="123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95528" y="56144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Approval sought: framework direction, decision options, and a pilot mandate with evidence-based refinement.</a:t>
            </a:r>
            <a:endParaRPr lang="en-US" sz="11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4630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3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 0"/>
          <p:cNvSpPr/>
          <p:nvPr/>
        </p:nvSpPr>
        <p:spPr>
          <a:xfrm>
            <a:off x="1828800" y="2816352"/>
            <a:ext cx="854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CONTROLLED AGILITY FOR OHB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920240" y="3584448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1E2DA"/>
                </a:solidFill>
              </a:rPr>
              <a:t>Clear outcomes. Visible trade-offs. Faster learning. Stronger evidence.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38928" y="4251960"/>
            <a:ext cx="1920240" cy="64008"/>
          </a:xfrm>
          <a:prstGeom prst="rect">
            <a:avLst/>
          </a:prstGeom>
          <a:solidFill>
            <a:srgbClr val="BD7753"/>
          </a:solidFill>
          <a:ln w="12700">
            <a:solidFill>
              <a:srgbClr val="BD77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0" y="4617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3090</Words>
  <Application>Microsoft Office PowerPoint</Application>
  <PresentationFormat>Widescreen</PresentationFormat>
  <Paragraphs>495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Black</vt:lpstr>
      <vt:lpstr>Aptos Display</vt:lpstr>
      <vt:lpstr>Aptos Light</vt:lpstr>
      <vt:lpstr>Aptos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Oman Housing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Agile Will Run in OHB</dc:title>
  <dc:subject>Executive proposal for the OHB Agile Delivery Framework</dc:subject>
  <dc:creator>Abeer Abdulrasool Al-Raisi</dc:creator>
  <cp:lastModifiedBy>Abeer Abdulrasool Al-Raisi</cp:lastModifiedBy>
  <cp:revision>81</cp:revision>
  <dcterms:created xsi:type="dcterms:W3CDTF">2026-10-14T11:44:08Z</dcterms:created>
  <dcterms:modified xsi:type="dcterms:W3CDTF">2026-10-15T08:34:42Z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73eeedd-cfc3-43e9-aa3a-c9976b58a05d_Enabled">
    <vt:lpwstr>true</vt:lpwstr>
  </property>
  <property fmtid="{D5CDD505-2E9C-101B-9397-08002B2CF9AE}" pid="3" name="MSIP_Label_173eeedd-cfc3-43e9-aa3a-c9976b58a05d_SetDate">
    <vt:lpwstr>2026-10-14T11:44:08Z</vt:lpwstr>
  </property>
  <property fmtid="{D5CDD505-2E9C-101B-9397-08002B2CF9AE}" pid="4" name="MSIP_Label_173eeedd-cfc3-43e9-aa3a-c9976b58a05d_Method">
    <vt:lpwstr>Privileged</vt:lpwstr>
  </property>
  <property fmtid="{D5CDD505-2E9C-101B-9397-08002B2CF9AE}" pid="5" name="MSIP_Label_173eeedd-cfc3-43e9-aa3a-c9976b58a05d_Name">
    <vt:lpwstr>Internal Information</vt:lpwstr>
  </property>
  <property fmtid="{D5CDD505-2E9C-101B-9397-08002B2CF9AE}" pid="6" name="MSIP_Label_173eeedd-cfc3-43e9-aa3a-c9976b58a05d_SiteId">
    <vt:lpwstr>17c23a0a-2134-41d5-ad7c-5c9a01f536bf</vt:lpwstr>
  </property>
  <property fmtid="{D5CDD505-2E9C-101B-9397-08002B2CF9AE}" pid="7" name="MSIP_Label_173eeedd-cfc3-43e9-aa3a-c9976b58a05d_ActionId">
    <vt:lpwstr>a0d64dfb-ca1b-4cd2-969a-55106e288ba3</vt:lpwstr>
  </property>
  <property fmtid="{D5CDD505-2E9C-101B-9397-08002B2CF9AE}" pid="8" name="MSIP_Label_173eeedd-cfc3-43e9-aa3a-c9976b58a05d_ContentBits">
    <vt:lpwstr>0</vt:lpwstr>
  </property>
</Properties>
</file>